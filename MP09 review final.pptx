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8" r:id="rId1"/>
    <p:sldMasterId id="2147483773" r:id="rId2"/>
  </p:sldMasterIdLst>
  <p:notesMasterIdLst>
    <p:notesMasterId r:id="rId18"/>
  </p:notesMasterIdLst>
  <p:sldIdLst>
    <p:sldId id="256" r:id="rId3"/>
    <p:sldId id="350" r:id="rId4"/>
    <p:sldId id="257" r:id="rId5"/>
    <p:sldId id="355" r:id="rId6"/>
    <p:sldId id="356" r:id="rId7"/>
    <p:sldId id="351" r:id="rId8"/>
    <p:sldId id="352" r:id="rId9"/>
    <p:sldId id="353" r:id="rId10"/>
    <p:sldId id="354" r:id="rId11"/>
    <p:sldId id="357" r:id="rId12"/>
    <p:sldId id="358" r:id="rId13"/>
    <p:sldId id="359" r:id="rId14"/>
    <p:sldId id="360" r:id="rId15"/>
    <p:sldId id="361" r:id="rId16"/>
    <p:sldId id="349" r:id="rId17"/>
  </p:sldIdLst>
  <p:sldSz cx="9144000" cy="5143500" type="screen16x9"/>
  <p:notesSz cx="6858000" cy="9144000"/>
  <p:embeddedFontLst>
    <p:embeddedFont>
      <p:font typeface="Catamaran" panose="020B0604020202020204" charset="0"/>
      <p:regular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2D5E3C4-F455-48AA-A24F-7F6EF541B782}">
          <p14:sldIdLst>
            <p14:sldId id="256"/>
            <p14:sldId id="350"/>
            <p14:sldId id="257"/>
            <p14:sldId id="355"/>
            <p14:sldId id="356"/>
            <p14:sldId id="351"/>
            <p14:sldId id="352"/>
            <p14:sldId id="353"/>
            <p14:sldId id="354"/>
            <p14:sldId id="357"/>
            <p14:sldId id="358"/>
            <p14:sldId id="359"/>
            <p14:sldId id="360"/>
            <p14:sldId id="361"/>
          </p14:sldIdLst>
        </p14:section>
        <p14:section name="Untitled Section" id="{9C0B90BC-1EE1-40F1-80FD-F70C294A7640}">
          <p14:sldIdLst>
            <p14:sldId id="34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ghu9490977434@gmail.com" initials="" lastIdx="1" clrIdx="0">
    <p:extLst>
      <p:ext uri="{19B8F6BF-5375-455C-9EA6-DF929625EA0E}">
        <p15:presenceInfo xmlns:p15="http://schemas.microsoft.com/office/powerpoint/2012/main" userId="b8d378b4c1c0b73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3730"/>
    <a:srgbClr val="0C0C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10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963780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8" name="Google Shape;132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7577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0"/>
        <p:cNvGrpSpPr/>
        <p:nvPr/>
      </p:nvGrpSpPr>
      <p:grpSpPr>
        <a:xfrm>
          <a:off x="0" y="0"/>
          <a:ext cx="0" cy="0"/>
          <a:chOff x="0" y="0"/>
          <a:chExt cx="0" cy="0"/>
        </a:xfrm>
      </p:grpSpPr>
      <p:sp>
        <p:nvSpPr>
          <p:cNvPr id="1341" name="Google Shape;1341;g93969108f1_2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2" name="Google Shape;1342;g93969108f1_2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7994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3837942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0624154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7683151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6032742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7432340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6395051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28203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1131092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631091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3285025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4556906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5"/>
        <p:cNvGrpSpPr/>
        <p:nvPr/>
      </p:nvGrpSpPr>
      <p:grpSpPr>
        <a:xfrm>
          <a:off x="0" y="0"/>
          <a:ext cx="0" cy="0"/>
          <a:chOff x="0" y="0"/>
          <a:chExt cx="0" cy="0"/>
        </a:xfrm>
      </p:grpSpPr>
      <p:sp>
        <p:nvSpPr>
          <p:cNvPr id="160" name="Google Shape;160;p4"/>
          <p:cNvSpPr txBox="1">
            <a:spLocks noGrp="1"/>
          </p:cNvSpPr>
          <p:nvPr>
            <p:ph type="title"/>
          </p:nvPr>
        </p:nvSpPr>
        <p:spPr>
          <a:xfrm>
            <a:off x="522000" y="491400"/>
            <a:ext cx="8100000" cy="647100"/>
          </a:xfrm>
          <a:prstGeom prst="rect">
            <a:avLst/>
          </a:prstGeom>
        </p:spPr>
        <p:txBody>
          <a:bodyPr spcFirstLastPara="1" wrap="square" lIns="91425" tIns="91425" rIns="91425" bIns="91425" anchor="t" anchorCtr="0">
            <a:noAutofit/>
          </a:bodyPr>
          <a:lstStyle>
            <a:lvl1pPr lvl="0">
              <a:spcBef>
                <a:spcPts val="0"/>
              </a:spcBef>
              <a:spcAft>
                <a:spcPts val="0"/>
              </a:spcAft>
              <a:buSzPts val="4100"/>
              <a:buNone/>
              <a:defRPr/>
            </a:lvl1pPr>
            <a:lvl2pPr lvl="1">
              <a:spcBef>
                <a:spcPts val="0"/>
              </a:spcBef>
              <a:spcAft>
                <a:spcPts val="0"/>
              </a:spcAft>
              <a:buSzPts val="4100"/>
              <a:buNone/>
              <a:defRPr/>
            </a:lvl2pPr>
            <a:lvl3pPr lvl="2">
              <a:spcBef>
                <a:spcPts val="0"/>
              </a:spcBef>
              <a:spcAft>
                <a:spcPts val="0"/>
              </a:spcAft>
              <a:buSzPts val="4100"/>
              <a:buNone/>
              <a:defRPr/>
            </a:lvl3pPr>
            <a:lvl4pPr lvl="3">
              <a:spcBef>
                <a:spcPts val="0"/>
              </a:spcBef>
              <a:spcAft>
                <a:spcPts val="0"/>
              </a:spcAft>
              <a:buSzPts val="4100"/>
              <a:buNone/>
              <a:defRPr/>
            </a:lvl4pPr>
            <a:lvl5pPr lvl="4">
              <a:spcBef>
                <a:spcPts val="0"/>
              </a:spcBef>
              <a:spcAft>
                <a:spcPts val="0"/>
              </a:spcAft>
              <a:buSzPts val="4100"/>
              <a:buNone/>
              <a:defRPr/>
            </a:lvl5pPr>
            <a:lvl6pPr lvl="5">
              <a:spcBef>
                <a:spcPts val="0"/>
              </a:spcBef>
              <a:spcAft>
                <a:spcPts val="0"/>
              </a:spcAft>
              <a:buSzPts val="4100"/>
              <a:buNone/>
              <a:defRPr/>
            </a:lvl6pPr>
            <a:lvl7pPr lvl="6">
              <a:spcBef>
                <a:spcPts val="0"/>
              </a:spcBef>
              <a:spcAft>
                <a:spcPts val="0"/>
              </a:spcAft>
              <a:buSzPts val="4100"/>
              <a:buNone/>
              <a:defRPr/>
            </a:lvl7pPr>
            <a:lvl8pPr lvl="7">
              <a:spcBef>
                <a:spcPts val="0"/>
              </a:spcBef>
              <a:spcAft>
                <a:spcPts val="0"/>
              </a:spcAft>
              <a:buSzPts val="4100"/>
              <a:buNone/>
              <a:defRPr/>
            </a:lvl8pPr>
            <a:lvl9pPr lvl="8">
              <a:spcBef>
                <a:spcPts val="0"/>
              </a:spcBef>
              <a:spcAft>
                <a:spcPts val="0"/>
              </a:spcAft>
              <a:buSzPts val="4100"/>
              <a:buNone/>
              <a:defRPr/>
            </a:lvl9pPr>
          </a:lstStyle>
          <a:p>
            <a:endParaRPr/>
          </a:p>
        </p:txBody>
      </p:sp>
      <p:sp>
        <p:nvSpPr>
          <p:cNvPr id="161" name="Google Shape;161;p4"/>
          <p:cNvSpPr txBox="1">
            <a:spLocks noGrp="1"/>
          </p:cNvSpPr>
          <p:nvPr>
            <p:ph type="body" idx="1"/>
          </p:nvPr>
        </p:nvSpPr>
        <p:spPr>
          <a:xfrm>
            <a:off x="540000" y="1204800"/>
            <a:ext cx="7647900" cy="3495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AutoNum type="arabicPeriod"/>
              <a:defRPr sz="1200"/>
            </a:lvl1pPr>
            <a:lvl2pPr marL="914400" lvl="1" indent="-317500" rtl="0">
              <a:spcBef>
                <a:spcPts val="1600"/>
              </a:spcBef>
              <a:spcAft>
                <a:spcPts val="0"/>
              </a:spcAft>
              <a:buSzPts val="1400"/>
              <a:buAutoNum type="alphaLcPeriod"/>
              <a:defRPr/>
            </a:lvl2pPr>
            <a:lvl3pPr marL="1371600" lvl="2" indent="-317500" rtl="0">
              <a:spcBef>
                <a:spcPts val="1600"/>
              </a:spcBef>
              <a:spcAft>
                <a:spcPts val="0"/>
              </a:spcAft>
              <a:buSzPts val="1400"/>
              <a:buAutoNum type="romanLcPeriod"/>
              <a:defRPr/>
            </a:lvl3pPr>
            <a:lvl4pPr marL="1828800" lvl="3" indent="-317500" rtl="0">
              <a:spcBef>
                <a:spcPts val="1600"/>
              </a:spcBef>
              <a:spcAft>
                <a:spcPts val="0"/>
              </a:spcAft>
              <a:buSzPts val="1400"/>
              <a:buAutoNum type="arabicPeriod"/>
              <a:defRPr/>
            </a:lvl4pPr>
            <a:lvl5pPr marL="2286000" lvl="4" indent="-317500" rtl="0">
              <a:spcBef>
                <a:spcPts val="1600"/>
              </a:spcBef>
              <a:spcAft>
                <a:spcPts val="0"/>
              </a:spcAft>
              <a:buSzPts val="1400"/>
              <a:buAutoNum type="alphaLcPeriod"/>
              <a:defRPr/>
            </a:lvl5pPr>
            <a:lvl6pPr marL="2743200" lvl="5" indent="-317500" rtl="0">
              <a:spcBef>
                <a:spcPts val="1600"/>
              </a:spcBef>
              <a:spcAft>
                <a:spcPts val="0"/>
              </a:spcAft>
              <a:buSzPts val="1400"/>
              <a:buAutoNum type="romanLcPeriod"/>
              <a:defRPr/>
            </a:lvl6pPr>
            <a:lvl7pPr marL="3200400" lvl="6" indent="-317500" rtl="0">
              <a:spcBef>
                <a:spcPts val="1600"/>
              </a:spcBef>
              <a:spcAft>
                <a:spcPts val="0"/>
              </a:spcAft>
              <a:buSzPts val="1400"/>
              <a:buAutoNum type="arabicPeriod"/>
              <a:defRPr/>
            </a:lvl7pPr>
            <a:lvl8pPr marL="3657600" lvl="7" indent="-317500" rtl="0">
              <a:spcBef>
                <a:spcPts val="1600"/>
              </a:spcBef>
              <a:spcAft>
                <a:spcPts val="0"/>
              </a:spcAft>
              <a:buSzPts val="1400"/>
              <a:buAutoNum type="alphaLcPeriod"/>
              <a:defRPr/>
            </a:lvl8pPr>
            <a:lvl9pPr marL="4114800" lvl="8" indent="-317500" rtl="0">
              <a:spcBef>
                <a:spcPts val="1600"/>
              </a:spcBef>
              <a:spcAft>
                <a:spcPts val="1600"/>
              </a:spcAft>
              <a:buSzPts val="1400"/>
              <a:buAutoNum type="romanLcPeriod"/>
              <a:defRPr/>
            </a:lvl9pPr>
          </a:lstStyle>
          <a:p>
            <a:endParaRPr/>
          </a:p>
        </p:txBody>
      </p:sp>
    </p:spTree>
    <p:extLst>
      <p:ext uri="{BB962C8B-B14F-4D97-AF65-F5344CB8AC3E}">
        <p14:creationId xmlns:p14="http://schemas.microsoft.com/office/powerpoint/2010/main" val="2662897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11"/>
        <p:cNvGrpSpPr/>
        <p:nvPr/>
      </p:nvGrpSpPr>
      <p:grpSpPr>
        <a:xfrm>
          <a:off x="0" y="0"/>
          <a:ext cx="0" cy="0"/>
          <a:chOff x="0" y="0"/>
          <a:chExt cx="0" cy="0"/>
        </a:xfrm>
      </p:grpSpPr>
      <p:sp>
        <p:nvSpPr>
          <p:cNvPr id="216" name="Google Shape;216;p7"/>
          <p:cNvSpPr txBox="1">
            <a:spLocks noGrp="1"/>
          </p:cNvSpPr>
          <p:nvPr>
            <p:ph type="body" idx="1"/>
          </p:nvPr>
        </p:nvSpPr>
        <p:spPr>
          <a:xfrm>
            <a:off x="540000" y="1615100"/>
            <a:ext cx="4635900" cy="2668200"/>
          </a:xfrm>
          <a:prstGeom prst="rect">
            <a:avLst/>
          </a:prstGeom>
        </p:spPr>
        <p:txBody>
          <a:bodyPr spcFirstLastPara="1" wrap="square" lIns="91425" tIns="91425" rIns="91425" bIns="91425" anchor="t" anchorCtr="0">
            <a:noAutofit/>
          </a:bodyPr>
          <a:lstStyle>
            <a:lvl1pPr marL="457200" lvl="0" indent="-304800" algn="ctr">
              <a:lnSpc>
                <a:spcPct val="150000"/>
              </a:lnSpc>
              <a:spcBef>
                <a:spcPts val="0"/>
              </a:spcBef>
              <a:spcAft>
                <a:spcPts val="0"/>
              </a:spcAft>
              <a:buSzPts val="1200"/>
              <a:buChar char="●"/>
              <a:defRPr sz="1600">
                <a:latin typeface="Catamaran"/>
                <a:ea typeface="Catamaran"/>
                <a:cs typeface="Catamaran"/>
                <a:sym typeface="Catamaran"/>
              </a:defRPr>
            </a:lvl1pPr>
            <a:lvl2pPr marL="914400" lvl="1" indent="-304800">
              <a:spcBef>
                <a:spcPts val="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17" name="Google Shape;217;p7"/>
          <p:cNvSpPr txBox="1">
            <a:spLocks noGrp="1"/>
          </p:cNvSpPr>
          <p:nvPr>
            <p:ph type="title"/>
          </p:nvPr>
        </p:nvSpPr>
        <p:spPr>
          <a:xfrm>
            <a:off x="540000" y="491400"/>
            <a:ext cx="8100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a:endParaRPr/>
          </a:p>
        </p:txBody>
      </p:sp>
    </p:spTree>
    <p:extLst>
      <p:ext uri="{BB962C8B-B14F-4D97-AF65-F5344CB8AC3E}">
        <p14:creationId xmlns:p14="http://schemas.microsoft.com/office/powerpoint/2010/main" val="29553406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30696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5925662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4552911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0337217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9662468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50452426"/>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000657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4794339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869252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01438935"/>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9048768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5"/>
        <p:cNvGrpSpPr/>
        <p:nvPr/>
      </p:nvGrpSpPr>
      <p:grpSpPr>
        <a:xfrm>
          <a:off x="0" y="0"/>
          <a:ext cx="0" cy="0"/>
          <a:chOff x="0" y="0"/>
          <a:chExt cx="0" cy="0"/>
        </a:xfrm>
      </p:grpSpPr>
      <p:sp>
        <p:nvSpPr>
          <p:cNvPr id="160" name="Google Shape;160;p4"/>
          <p:cNvSpPr txBox="1">
            <a:spLocks noGrp="1"/>
          </p:cNvSpPr>
          <p:nvPr>
            <p:ph type="title"/>
          </p:nvPr>
        </p:nvSpPr>
        <p:spPr>
          <a:xfrm>
            <a:off x="522000" y="491400"/>
            <a:ext cx="8100000" cy="647100"/>
          </a:xfrm>
          <a:prstGeom prst="rect">
            <a:avLst/>
          </a:prstGeom>
        </p:spPr>
        <p:txBody>
          <a:bodyPr spcFirstLastPara="1" wrap="square" lIns="91425" tIns="91425" rIns="91425" bIns="91425" anchor="t" anchorCtr="0">
            <a:noAutofit/>
          </a:bodyPr>
          <a:lstStyle>
            <a:lvl1pPr lvl="0">
              <a:spcBef>
                <a:spcPts val="0"/>
              </a:spcBef>
              <a:spcAft>
                <a:spcPts val="0"/>
              </a:spcAft>
              <a:buSzPts val="4100"/>
              <a:buNone/>
              <a:defRPr/>
            </a:lvl1pPr>
            <a:lvl2pPr lvl="1">
              <a:spcBef>
                <a:spcPts val="0"/>
              </a:spcBef>
              <a:spcAft>
                <a:spcPts val="0"/>
              </a:spcAft>
              <a:buSzPts val="4100"/>
              <a:buNone/>
              <a:defRPr/>
            </a:lvl2pPr>
            <a:lvl3pPr lvl="2">
              <a:spcBef>
                <a:spcPts val="0"/>
              </a:spcBef>
              <a:spcAft>
                <a:spcPts val="0"/>
              </a:spcAft>
              <a:buSzPts val="4100"/>
              <a:buNone/>
              <a:defRPr/>
            </a:lvl3pPr>
            <a:lvl4pPr lvl="3">
              <a:spcBef>
                <a:spcPts val="0"/>
              </a:spcBef>
              <a:spcAft>
                <a:spcPts val="0"/>
              </a:spcAft>
              <a:buSzPts val="4100"/>
              <a:buNone/>
              <a:defRPr/>
            </a:lvl4pPr>
            <a:lvl5pPr lvl="4">
              <a:spcBef>
                <a:spcPts val="0"/>
              </a:spcBef>
              <a:spcAft>
                <a:spcPts val="0"/>
              </a:spcAft>
              <a:buSzPts val="4100"/>
              <a:buNone/>
              <a:defRPr/>
            </a:lvl5pPr>
            <a:lvl6pPr lvl="5">
              <a:spcBef>
                <a:spcPts val="0"/>
              </a:spcBef>
              <a:spcAft>
                <a:spcPts val="0"/>
              </a:spcAft>
              <a:buSzPts val="4100"/>
              <a:buNone/>
              <a:defRPr/>
            </a:lvl6pPr>
            <a:lvl7pPr lvl="6">
              <a:spcBef>
                <a:spcPts val="0"/>
              </a:spcBef>
              <a:spcAft>
                <a:spcPts val="0"/>
              </a:spcAft>
              <a:buSzPts val="4100"/>
              <a:buNone/>
              <a:defRPr/>
            </a:lvl7pPr>
            <a:lvl8pPr lvl="7">
              <a:spcBef>
                <a:spcPts val="0"/>
              </a:spcBef>
              <a:spcAft>
                <a:spcPts val="0"/>
              </a:spcAft>
              <a:buSzPts val="4100"/>
              <a:buNone/>
              <a:defRPr/>
            </a:lvl8pPr>
            <a:lvl9pPr lvl="8">
              <a:spcBef>
                <a:spcPts val="0"/>
              </a:spcBef>
              <a:spcAft>
                <a:spcPts val="0"/>
              </a:spcAft>
              <a:buSzPts val="4100"/>
              <a:buNone/>
              <a:defRPr/>
            </a:lvl9pPr>
          </a:lstStyle>
          <a:p>
            <a:endParaRPr/>
          </a:p>
        </p:txBody>
      </p:sp>
      <p:sp>
        <p:nvSpPr>
          <p:cNvPr id="161" name="Google Shape;161;p4"/>
          <p:cNvSpPr txBox="1">
            <a:spLocks noGrp="1"/>
          </p:cNvSpPr>
          <p:nvPr>
            <p:ph type="body" idx="1"/>
          </p:nvPr>
        </p:nvSpPr>
        <p:spPr>
          <a:xfrm>
            <a:off x="540000" y="1204800"/>
            <a:ext cx="7647900" cy="3495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AutoNum type="arabicPeriod"/>
              <a:defRPr sz="1200"/>
            </a:lvl1pPr>
            <a:lvl2pPr marL="914400" lvl="1" indent="-317500" rtl="0">
              <a:spcBef>
                <a:spcPts val="1600"/>
              </a:spcBef>
              <a:spcAft>
                <a:spcPts val="0"/>
              </a:spcAft>
              <a:buSzPts val="1400"/>
              <a:buAutoNum type="alphaLcPeriod"/>
              <a:defRPr/>
            </a:lvl2pPr>
            <a:lvl3pPr marL="1371600" lvl="2" indent="-317500" rtl="0">
              <a:spcBef>
                <a:spcPts val="1600"/>
              </a:spcBef>
              <a:spcAft>
                <a:spcPts val="0"/>
              </a:spcAft>
              <a:buSzPts val="1400"/>
              <a:buAutoNum type="romanLcPeriod"/>
              <a:defRPr/>
            </a:lvl3pPr>
            <a:lvl4pPr marL="1828800" lvl="3" indent="-317500" rtl="0">
              <a:spcBef>
                <a:spcPts val="1600"/>
              </a:spcBef>
              <a:spcAft>
                <a:spcPts val="0"/>
              </a:spcAft>
              <a:buSzPts val="1400"/>
              <a:buAutoNum type="arabicPeriod"/>
              <a:defRPr/>
            </a:lvl4pPr>
            <a:lvl5pPr marL="2286000" lvl="4" indent="-317500" rtl="0">
              <a:spcBef>
                <a:spcPts val="1600"/>
              </a:spcBef>
              <a:spcAft>
                <a:spcPts val="0"/>
              </a:spcAft>
              <a:buSzPts val="1400"/>
              <a:buAutoNum type="alphaLcPeriod"/>
              <a:defRPr/>
            </a:lvl5pPr>
            <a:lvl6pPr marL="2743200" lvl="5" indent="-317500" rtl="0">
              <a:spcBef>
                <a:spcPts val="1600"/>
              </a:spcBef>
              <a:spcAft>
                <a:spcPts val="0"/>
              </a:spcAft>
              <a:buSzPts val="1400"/>
              <a:buAutoNum type="romanLcPeriod"/>
              <a:defRPr/>
            </a:lvl6pPr>
            <a:lvl7pPr marL="3200400" lvl="6" indent="-317500" rtl="0">
              <a:spcBef>
                <a:spcPts val="1600"/>
              </a:spcBef>
              <a:spcAft>
                <a:spcPts val="0"/>
              </a:spcAft>
              <a:buSzPts val="1400"/>
              <a:buAutoNum type="arabicPeriod"/>
              <a:defRPr/>
            </a:lvl7pPr>
            <a:lvl8pPr marL="3657600" lvl="7" indent="-317500" rtl="0">
              <a:spcBef>
                <a:spcPts val="1600"/>
              </a:spcBef>
              <a:spcAft>
                <a:spcPts val="0"/>
              </a:spcAft>
              <a:buSzPts val="1400"/>
              <a:buAutoNum type="alphaLcPeriod"/>
              <a:defRPr/>
            </a:lvl8pPr>
            <a:lvl9pPr marL="4114800" lvl="8" indent="-317500" rtl="0">
              <a:spcBef>
                <a:spcPts val="1600"/>
              </a:spcBef>
              <a:spcAft>
                <a:spcPts val="1600"/>
              </a:spcAft>
              <a:buSzPts val="1400"/>
              <a:buAutoNum type="romanLcPeriod"/>
              <a:defRPr/>
            </a:lvl9pPr>
          </a:lstStyle>
          <a:p>
            <a:endParaRPr/>
          </a:p>
        </p:txBody>
      </p:sp>
    </p:spTree>
    <p:extLst>
      <p:ext uri="{BB962C8B-B14F-4D97-AF65-F5344CB8AC3E}">
        <p14:creationId xmlns:p14="http://schemas.microsoft.com/office/powerpoint/2010/main" val="3407105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4/20/2025</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552514908"/>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2" r:id="rId13"/>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4/20/2025</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293047516"/>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rec.ac.in/" TargetMode="External"/><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0" name="Google Shape;1330;p59"/>
          <p:cNvSpPr txBox="1">
            <a:spLocks noGrp="1"/>
          </p:cNvSpPr>
          <p:nvPr>
            <p:ph type="ctrTitle"/>
          </p:nvPr>
        </p:nvSpPr>
        <p:spPr>
          <a:xfrm>
            <a:off x="1092546" y="99072"/>
            <a:ext cx="7617114" cy="90712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800" b="1" dirty="0">
                <a:solidFill>
                  <a:schemeClr val="tx1"/>
                </a:solidFill>
                <a:effectLst/>
                <a:latin typeface="Times New Roman" panose="02020603050405020304" pitchFamily="18" charset="0"/>
                <a:cs typeface="Times New Roman" panose="02020603050405020304" pitchFamily="18" charset="0"/>
                <a:sym typeface="+mn-ea"/>
              </a:rPr>
              <a:t>Malla Reddy Engineering College </a:t>
            </a:r>
            <a:br>
              <a:rPr lang="en-IN" sz="1400" b="1" dirty="0">
                <a:solidFill>
                  <a:schemeClr val="tx1"/>
                </a:solidFill>
                <a:effectLst/>
                <a:latin typeface="Times New Roman" panose="02020603050405020304" pitchFamily="18" charset="0"/>
                <a:cs typeface="Times New Roman" panose="02020603050405020304" pitchFamily="18" charset="0"/>
              </a:rPr>
            </a:br>
            <a:r>
              <a:rPr lang="en-US" sz="1000" dirty="0">
                <a:solidFill>
                  <a:schemeClr val="tx1"/>
                </a:solidFill>
                <a:effectLst/>
                <a:sym typeface="+mn-ea"/>
              </a:rPr>
              <a:t> </a:t>
            </a:r>
            <a:r>
              <a:rPr lang="en-US" sz="1000" dirty="0">
                <a:solidFill>
                  <a:schemeClr val="tx1"/>
                </a:solidFill>
                <a:effectLst/>
                <a:latin typeface="Times New Roman" panose="02020603050405020304" pitchFamily="18" charset="0"/>
                <a:cs typeface="Times New Roman" panose="02020603050405020304" pitchFamily="18" charset="0"/>
                <a:sym typeface="+mn-ea"/>
              </a:rPr>
              <a:t>(An UGC Autonomous Institution, Approved by AICTE, New Delhi &amp; Affiliated to JNTUH, Hyderabad). </a:t>
            </a:r>
            <a:br>
              <a:rPr lang="en-IN" sz="1000" b="0" dirty="0">
                <a:solidFill>
                  <a:schemeClr val="tx1"/>
                </a:solidFill>
                <a:effectLst/>
                <a:latin typeface="Times New Roman" panose="02020603050405020304" pitchFamily="18" charset="0"/>
                <a:cs typeface="Times New Roman" panose="02020603050405020304" pitchFamily="18" charset="0"/>
              </a:rPr>
            </a:br>
            <a:r>
              <a:rPr lang="en-US" sz="1000" dirty="0">
                <a:solidFill>
                  <a:schemeClr val="tx1"/>
                </a:solidFill>
                <a:effectLst/>
                <a:latin typeface="Times New Roman" panose="02020603050405020304" pitchFamily="18" charset="0"/>
                <a:cs typeface="Times New Roman" panose="02020603050405020304" pitchFamily="18" charset="0"/>
                <a:sym typeface="+mn-ea"/>
              </a:rPr>
              <a:t>Accredited by  NAAC with ‘A++’ Grade (Cycle-III), Maisammaguda(H), </a:t>
            </a:r>
            <a:r>
              <a:rPr lang="en-US" sz="1000" dirty="0" err="1">
                <a:solidFill>
                  <a:schemeClr val="tx1"/>
                </a:solidFill>
                <a:effectLst/>
                <a:latin typeface="Times New Roman" panose="02020603050405020304" pitchFamily="18" charset="0"/>
                <a:cs typeface="Times New Roman" panose="02020603050405020304" pitchFamily="18" charset="0"/>
                <a:sym typeface="+mn-ea"/>
              </a:rPr>
              <a:t>Medchal</a:t>
            </a:r>
            <a:r>
              <a:rPr lang="en-US" sz="1000" dirty="0">
                <a:solidFill>
                  <a:schemeClr val="tx1"/>
                </a:solidFill>
                <a:effectLst/>
                <a:latin typeface="Times New Roman" panose="02020603050405020304" pitchFamily="18" charset="0"/>
                <a:cs typeface="Times New Roman" panose="02020603050405020304" pitchFamily="18" charset="0"/>
                <a:sym typeface="+mn-ea"/>
              </a:rPr>
              <a:t> - </a:t>
            </a:r>
            <a:r>
              <a:rPr lang="en-US" sz="1000" dirty="0" err="1">
                <a:solidFill>
                  <a:schemeClr val="tx1"/>
                </a:solidFill>
                <a:effectLst/>
                <a:latin typeface="Times New Roman" panose="02020603050405020304" pitchFamily="18" charset="0"/>
                <a:cs typeface="Times New Roman" panose="02020603050405020304" pitchFamily="18" charset="0"/>
                <a:sym typeface="+mn-ea"/>
              </a:rPr>
              <a:t>Malkajgiri</a:t>
            </a:r>
            <a:r>
              <a:rPr lang="en-US" sz="1000" dirty="0">
                <a:solidFill>
                  <a:schemeClr val="tx1"/>
                </a:solidFill>
                <a:effectLst/>
                <a:latin typeface="Times New Roman" panose="02020603050405020304" pitchFamily="18" charset="0"/>
                <a:cs typeface="Times New Roman" panose="02020603050405020304" pitchFamily="18" charset="0"/>
                <a:sym typeface="+mn-ea"/>
              </a:rPr>
              <a:t> District, </a:t>
            </a:r>
            <a:r>
              <a:rPr lang="en-US" sz="1000" dirty="0" err="1">
                <a:solidFill>
                  <a:schemeClr val="tx1"/>
                </a:solidFill>
                <a:effectLst/>
                <a:latin typeface="Times New Roman" panose="02020603050405020304" pitchFamily="18" charset="0"/>
                <a:cs typeface="Times New Roman" panose="02020603050405020304" pitchFamily="18" charset="0"/>
                <a:sym typeface="+mn-ea"/>
              </a:rPr>
              <a:t>Secunderabad</a:t>
            </a:r>
            <a:r>
              <a:rPr lang="en-US" sz="1000" dirty="0">
                <a:solidFill>
                  <a:schemeClr val="tx1"/>
                </a:solidFill>
                <a:effectLst/>
                <a:latin typeface="Times New Roman" panose="02020603050405020304" pitchFamily="18" charset="0"/>
                <a:cs typeface="Times New Roman" panose="02020603050405020304" pitchFamily="18" charset="0"/>
                <a:sym typeface="+mn-ea"/>
              </a:rPr>
              <a:t>, Telangana State – 500100, </a:t>
            </a:r>
            <a:r>
              <a:rPr lang="en-US" sz="1000" u="sng" dirty="0">
                <a:solidFill>
                  <a:schemeClr val="tx1"/>
                </a:solidFill>
                <a:effectLst/>
                <a:latin typeface="Times New Roman" panose="02020603050405020304" pitchFamily="18" charset="0"/>
                <a:cs typeface="Times New Roman" panose="02020603050405020304" pitchFamily="18" charset="0"/>
                <a:sym typeface="+mn-ea"/>
                <a:hlinkClick r:id="rId3"/>
              </a:rPr>
              <a:t>www.mrec.ac.in</a:t>
            </a:r>
            <a:endParaRPr lang="en-GB" sz="1000" dirty="0"/>
          </a:p>
        </p:txBody>
      </p:sp>
      <p:sp>
        <p:nvSpPr>
          <p:cNvPr id="1332" name="Google Shape;1332;p59"/>
          <p:cNvSpPr/>
          <p:nvPr/>
        </p:nvSpPr>
        <p:spPr>
          <a:xfrm>
            <a:off x="8939983" y="3670210"/>
            <a:ext cx="4900" cy="7015"/>
          </a:xfrm>
          <a:custGeom>
            <a:avLst/>
            <a:gdLst/>
            <a:ahLst/>
            <a:cxnLst/>
            <a:rect l="l" t="t" r="r" b="b"/>
            <a:pathLst>
              <a:path w="234" h="335" extrusionOk="0">
                <a:moveTo>
                  <a:pt x="100" y="335"/>
                </a:moveTo>
                <a:cubicBezTo>
                  <a:pt x="234" y="301"/>
                  <a:pt x="200" y="168"/>
                  <a:pt x="100" y="1"/>
                </a:cubicBezTo>
                <a:cubicBezTo>
                  <a:pt x="0" y="1"/>
                  <a:pt x="0" y="301"/>
                  <a:pt x="100" y="335"/>
                </a:cubicBezTo>
                <a:close/>
              </a:path>
            </a:pathLst>
          </a:cu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59"/>
          <p:cNvSpPr/>
          <p:nvPr/>
        </p:nvSpPr>
        <p:spPr>
          <a:xfrm>
            <a:off x="8943479" y="3864378"/>
            <a:ext cx="5591" cy="6994"/>
          </a:xfrm>
          <a:custGeom>
            <a:avLst/>
            <a:gdLst/>
            <a:ahLst/>
            <a:cxnLst/>
            <a:rect l="l" t="t" r="r" b="b"/>
            <a:pathLst>
              <a:path w="267" h="334" extrusionOk="0">
                <a:moveTo>
                  <a:pt x="167" y="334"/>
                </a:moveTo>
                <a:cubicBezTo>
                  <a:pt x="267" y="334"/>
                  <a:pt x="267" y="34"/>
                  <a:pt x="167" y="0"/>
                </a:cubicBezTo>
                <a:cubicBezTo>
                  <a:pt x="200" y="167"/>
                  <a:pt x="0" y="234"/>
                  <a:pt x="167" y="334"/>
                </a:cubicBezTo>
                <a:close/>
              </a:path>
            </a:pathLst>
          </a:cu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59"/>
          <p:cNvSpPr/>
          <p:nvPr/>
        </p:nvSpPr>
        <p:spPr>
          <a:xfrm>
            <a:off x="8964416" y="3573837"/>
            <a:ext cx="5612" cy="7706"/>
          </a:xfrm>
          <a:custGeom>
            <a:avLst/>
            <a:gdLst/>
            <a:ahLst/>
            <a:cxnLst/>
            <a:rect l="l" t="t" r="r" b="b"/>
            <a:pathLst>
              <a:path w="268" h="368" extrusionOk="0">
                <a:moveTo>
                  <a:pt x="168" y="368"/>
                </a:moveTo>
                <a:cubicBezTo>
                  <a:pt x="268" y="368"/>
                  <a:pt x="268" y="67"/>
                  <a:pt x="168" y="1"/>
                </a:cubicBezTo>
                <a:cubicBezTo>
                  <a:pt x="168" y="234"/>
                  <a:pt x="1" y="301"/>
                  <a:pt x="168" y="368"/>
                </a:cubicBezTo>
                <a:close/>
              </a:path>
            </a:pathLst>
          </a:cu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59"/>
          <p:cNvSpPr/>
          <p:nvPr/>
        </p:nvSpPr>
        <p:spPr>
          <a:xfrm>
            <a:off x="8967913" y="3684886"/>
            <a:ext cx="13988" cy="17485"/>
          </a:xfrm>
          <a:custGeom>
            <a:avLst/>
            <a:gdLst/>
            <a:ahLst/>
            <a:cxnLst/>
            <a:rect l="l" t="t" r="r" b="b"/>
            <a:pathLst>
              <a:path w="668" h="835" extrusionOk="0">
                <a:moveTo>
                  <a:pt x="1" y="734"/>
                </a:moveTo>
                <a:cubicBezTo>
                  <a:pt x="668" y="834"/>
                  <a:pt x="67" y="0"/>
                  <a:pt x="1" y="734"/>
                </a:cubicBezTo>
                <a:close/>
              </a:path>
            </a:pathLst>
          </a:cu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59"/>
          <p:cNvSpPr/>
          <p:nvPr/>
        </p:nvSpPr>
        <p:spPr>
          <a:xfrm>
            <a:off x="8969316" y="3100328"/>
            <a:ext cx="13297" cy="18888"/>
          </a:xfrm>
          <a:custGeom>
            <a:avLst/>
            <a:gdLst/>
            <a:ahLst/>
            <a:cxnLst/>
            <a:rect l="l" t="t" r="r" b="b"/>
            <a:pathLst>
              <a:path w="635" h="902" extrusionOk="0">
                <a:moveTo>
                  <a:pt x="267" y="534"/>
                </a:moveTo>
                <a:cubicBezTo>
                  <a:pt x="634" y="901"/>
                  <a:pt x="0" y="0"/>
                  <a:pt x="267" y="534"/>
                </a:cubicBezTo>
                <a:close/>
              </a:path>
            </a:pathLst>
          </a:cu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59"/>
          <p:cNvSpPr/>
          <p:nvPr/>
        </p:nvSpPr>
        <p:spPr>
          <a:xfrm>
            <a:off x="8976288" y="3618537"/>
            <a:ext cx="3518" cy="7015"/>
          </a:xfrm>
          <a:custGeom>
            <a:avLst/>
            <a:gdLst/>
            <a:ahLst/>
            <a:cxnLst/>
            <a:rect l="l" t="t" r="r" b="b"/>
            <a:pathLst>
              <a:path w="168" h="335" extrusionOk="0">
                <a:moveTo>
                  <a:pt x="134" y="267"/>
                </a:moveTo>
                <a:cubicBezTo>
                  <a:pt x="168" y="234"/>
                  <a:pt x="101" y="1"/>
                  <a:pt x="1" y="101"/>
                </a:cubicBezTo>
                <a:cubicBezTo>
                  <a:pt x="1" y="167"/>
                  <a:pt x="101" y="334"/>
                  <a:pt x="134" y="267"/>
                </a:cubicBezTo>
                <a:close/>
              </a:path>
            </a:pathLst>
          </a:cu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59"/>
          <p:cNvSpPr/>
          <p:nvPr/>
        </p:nvSpPr>
        <p:spPr>
          <a:xfrm>
            <a:off x="8981878" y="3216256"/>
            <a:ext cx="4209" cy="7015"/>
          </a:xfrm>
          <a:custGeom>
            <a:avLst/>
            <a:gdLst/>
            <a:ahLst/>
            <a:cxnLst/>
            <a:rect l="l" t="t" r="r" b="b"/>
            <a:pathLst>
              <a:path w="201" h="335" extrusionOk="0">
                <a:moveTo>
                  <a:pt x="201" y="334"/>
                </a:moveTo>
                <a:lnTo>
                  <a:pt x="201" y="1"/>
                </a:lnTo>
                <a:lnTo>
                  <a:pt x="1" y="1"/>
                </a:lnTo>
                <a:lnTo>
                  <a:pt x="1" y="334"/>
                </a:lnTo>
                <a:close/>
              </a:path>
            </a:pathLst>
          </a:cu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59"/>
          <p:cNvSpPr/>
          <p:nvPr/>
        </p:nvSpPr>
        <p:spPr>
          <a:xfrm>
            <a:off x="8983281" y="3208572"/>
            <a:ext cx="3518" cy="7015"/>
          </a:xfrm>
          <a:custGeom>
            <a:avLst/>
            <a:gdLst/>
            <a:ahLst/>
            <a:cxnLst/>
            <a:rect l="l" t="t" r="r" b="b"/>
            <a:pathLst>
              <a:path w="168" h="335" extrusionOk="0">
                <a:moveTo>
                  <a:pt x="134" y="234"/>
                </a:moveTo>
                <a:cubicBezTo>
                  <a:pt x="167" y="201"/>
                  <a:pt x="67" y="1"/>
                  <a:pt x="0" y="68"/>
                </a:cubicBezTo>
                <a:cubicBezTo>
                  <a:pt x="0" y="134"/>
                  <a:pt x="101" y="334"/>
                  <a:pt x="134" y="234"/>
                </a:cubicBezTo>
                <a:close/>
              </a:path>
            </a:pathLst>
          </a:cu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Picture 3"/>
          <p:cNvPicPr>
            <a:picLocks noChangeAspect="1"/>
          </p:cNvPicPr>
          <p:nvPr/>
        </p:nvPicPr>
        <p:blipFill>
          <a:blip r:embed="rId4" cstate="print"/>
          <a:srcRect l="10217" t="4385" r="10393" b="7018"/>
          <a:stretch>
            <a:fillRect/>
          </a:stretch>
        </p:blipFill>
        <p:spPr bwMode="auto">
          <a:xfrm>
            <a:off x="110836" y="26947"/>
            <a:ext cx="1138844" cy="1051370"/>
          </a:xfrm>
          <a:prstGeom prst="rect">
            <a:avLst/>
          </a:prstGeom>
          <a:noFill/>
          <a:ln w="9525">
            <a:noFill/>
            <a:miter lim="800000"/>
            <a:headEnd/>
            <a:tailEnd/>
          </a:ln>
          <a:effectLst>
            <a:outerShdw blurRad="50800" dist="38100" dir="2700000" algn="tl" rotWithShape="0">
              <a:prstClr val="black"/>
            </a:outerShdw>
          </a:effectLst>
        </p:spPr>
      </p:pic>
      <p:sp>
        <p:nvSpPr>
          <p:cNvPr id="7" name="Text Box 6"/>
          <p:cNvSpPr txBox="1"/>
          <p:nvPr/>
        </p:nvSpPr>
        <p:spPr>
          <a:xfrm>
            <a:off x="2319316" y="1073899"/>
            <a:ext cx="4572000" cy="460375"/>
          </a:xfrm>
          <a:prstGeom prst="rect">
            <a:avLst/>
          </a:prstGeom>
          <a:noFill/>
        </p:spPr>
        <p:txBody>
          <a:bodyPr wrap="square" rtlCol="0" anchor="t">
            <a:spAutoFit/>
          </a:bodyPr>
          <a:lstStyle/>
          <a:p>
            <a:pPr algn="ctr"/>
            <a:r>
              <a:rPr lang="en-IN" sz="2400" b="1" dirty="0">
                <a:solidFill>
                  <a:srgbClr val="A53010"/>
                </a:solidFill>
                <a:latin typeface="Times New Roman" panose="02020603050405020304" pitchFamily="18" charset="0"/>
                <a:cs typeface="Times New Roman" panose="02020603050405020304" pitchFamily="18" charset="0"/>
                <a:sym typeface="+mn-ea"/>
              </a:rPr>
              <a:t>Department of </a:t>
            </a:r>
            <a:r>
              <a:rPr lang="en-US" altLang="en-IN" sz="2400" b="1" dirty="0">
                <a:solidFill>
                  <a:srgbClr val="A53010"/>
                </a:solidFill>
                <a:latin typeface="Times New Roman" panose="02020603050405020304" pitchFamily="18" charset="0"/>
                <a:cs typeface="Times New Roman" panose="02020603050405020304" pitchFamily="18" charset="0"/>
                <a:sym typeface="+mn-ea"/>
              </a:rPr>
              <a:t>B.Tech AIML</a:t>
            </a:r>
          </a:p>
        </p:txBody>
      </p:sp>
      <p:sp>
        <p:nvSpPr>
          <p:cNvPr id="9" name="Text Box 8"/>
          <p:cNvSpPr txBox="1"/>
          <p:nvPr/>
        </p:nvSpPr>
        <p:spPr>
          <a:xfrm>
            <a:off x="105456" y="1917255"/>
            <a:ext cx="8876422" cy="436891"/>
          </a:xfrm>
          <a:prstGeom prst="rect">
            <a:avLst/>
          </a:prstGeom>
          <a:noFill/>
        </p:spPr>
        <p:txBody>
          <a:bodyPr wrap="square" rtlCol="0" anchor="t">
            <a:noAutofit/>
          </a:bodyPr>
          <a:lstStyle/>
          <a:p>
            <a:pPr algn="ctr"/>
            <a:r>
              <a:rPr lang="en-IN" sz="2400" b="1" dirty="0">
                <a:latin typeface="Times New Roman" panose="02020603050405020304" pitchFamily="18" charset="0"/>
                <a:cs typeface="Times New Roman" panose="02020603050405020304" pitchFamily="18" charset="0"/>
                <a:sym typeface="+mn-ea"/>
              </a:rPr>
              <a:t>Presentation </a:t>
            </a:r>
            <a:r>
              <a:rPr lang="en-US" altLang="en-IN" sz="2400" b="1" dirty="0">
                <a:latin typeface="Times New Roman" panose="02020603050405020304" pitchFamily="18" charset="0"/>
                <a:cs typeface="Times New Roman" panose="02020603050405020304" pitchFamily="18" charset="0"/>
                <a:sym typeface="+mn-ea"/>
              </a:rPr>
              <a:t>on </a:t>
            </a:r>
          </a:p>
          <a:p>
            <a:pPr algn="ctr"/>
            <a:r>
              <a:rPr lang="en-US" sz="2000" b="1" dirty="0">
                <a:latin typeface="Times New Roman" panose="02020603050405020304" pitchFamily="18" charset="0"/>
                <a:cs typeface="Times New Roman" panose="02020603050405020304" pitchFamily="18" charset="0"/>
              </a:rPr>
              <a:t>GOLD PRICE PREDICTION:A COMPARATIVE ANALYSIS OF ML AND TIME SERIES MODELS</a:t>
            </a:r>
            <a:endParaRPr lang="en-IN" sz="2000" b="1" dirty="0">
              <a:latin typeface="Times New Roman" panose="02020603050405020304" pitchFamily="18" charset="0"/>
              <a:cs typeface="Times New Roman" panose="02020603050405020304" pitchFamily="18" charset="0"/>
            </a:endParaRPr>
          </a:p>
        </p:txBody>
      </p:sp>
      <p:sp>
        <p:nvSpPr>
          <p:cNvPr id="11" name="Text Box 10"/>
          <p:cNvSpPr txBox="1"/>
          <p:nvPr/>
        </p:nvSpPr>
        <p:spPr>
          <a:xfrm>
            <a:off x="900949" y="3018515"/>
            <a:ext cx="3048000" cy="430887"/>
          </a:xfrm>
          <a:prstGeom prst="rect">
            <a:avLst/>
          </a:prstGeom>
          <a:noFill/>
        </p:spPr>
        <p:txBody>
          <a:bodyPr wrap="square" rtlCol="0">
            <a:spAutoFit/>
          </a:bodyPr>
          <a:lstStyle/>
          <a:p>
            <a:r>
              <a:rPr lang="en-US" sz="2200" b="1" u="sng" dirty="0">
                <a:solidFill>
                  <a:srgbClr val="903730"/>
                </a:solidFill>
                <a:latin typeface="Times New Roman" panose="02020603050405020304" pitchFamily="18" charset="0"/>
                <a:cs typeface="Times New Roman" panose="02020603050405020304" pitchFamily="18" charset="0"/>
              </a:rPr>
              <a:t>Team Members</a:t>
            </a:r>
          </a:p>
        </p:txBody>
      </p:sp>
      <p:sp>
        <p:nvSpPr>
          <p:cNvPr id="13" name="Text Box 12"/>
          <p:cNvSpPr txBox="1"/>
          <p:nvPr/>
        </p:nvSpPr>
        <p:spPr>
          <a:xfrm>
            <a:off x="830403" y="3545198"/>
            <a:ext cx="4135880" cy="2056765"/>
          </a:xfrm>
          <a:prstGeom prst="rect">
            <a:avLst/>
          </a:prstGeom>
          <a:noFill/>
        </p:spPr>
        <p:txBody>
          <a:bodyPr wrap="square" rtlCol="0">
            <a:noAutofit/>
          </a:bodyPr>
          <a:lstStyle/>
          <a:p>
            <a:r>
              <a:rPr lang="en-US" b="1" dirty="0" err="1">
                <a:latin typeface="Times New Roman" panose="02020603050405020304" pitchFamily="18" charset="0"/>
                <a:cs typeface="Times New Roman" panose="02020603050405020304" pitchFamily="18" charset="0"/>
              </a:rPr>
              <a:t>C.</a:t>
            </a:r>
            <a:r>
              <a:rPr lang="en-US" sz="1800" b="1" dirty="0" err="1">
                <a:latin typeface="Times New Roman" panose="02020603050405020304" pitchFamily="18" charset="0"/>
                <a:cs typeface="Times New Roman" panose="02020603050405020304" pitchFamily="18" charset="0"/>
              </a:rPr>
              <a:t>Dasaratha</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RamiReddy</a:t>
            </a:r>
            <a:r>
              <a:rPr lang="en-US" sz="1800" b="1" dirty="0">
                <a:latin typeface="Times New Roman" panose="02020603050405020304" pitchFamily="18" charset="0"/>
                <a:cs typeface="Times New Roman" panose="02020603050405020304" pitchFamily="18" charset="0"/>
              </a:rPr>
              <a:t> (21J41A7318)</a:t>
            </a:r>
          </a:p>
          <a:p>
            <a:r>
              <a:rPr lang="en-US" sz="1800" b="1" dirty="0" err="1">
                <a:latin typeface="Times New Roman" panose="02020603050405020304" pitchFamily="18" charset="0"/>
                <a:cs typeface="Times New Roman" panose="02020603050405020304" pitchFamily="18" charset="0"/>
              </a:rPr>
              <a:t>N.Anvitha</a:t>
            </a:r>
            <a:r>
              <a:rPr lang="en-US" sz="1800" b="1" dirty="0">
                <a:latin typeface="Times New Roman" panose="02020603050405020304" pitchFamily="18" charset="0"/>
                <a:cs typeface="Times New Roman" panose="02020603050405020304" pitchFamily="18" charset="0"/>
              </a:rPr>
              <a:t> (21J41A7308)</a:t>
            </a:r>
          </a:p>
          <a:p>
            <a:r>
              <a:rPr lang="en-US" sz="1800" b="1" dirty="0" err="1">
                <a:latin typeface="Times New Roman" panose="02020603050405020304" pitchFamily="18" charset="0"/>
                <a:cs typeface="Times New Roman" panose="02020603050405020304" pitchFamily="18" charset="0"/>
              </a:rPr>
              <a:t>Riyaz</a:t>
            </a:r>
            <a:r>
              <a:rPr lang="en-US" sz="1800" b="1" dirty="0">
                <a:latin typeface="Times New Roman" panose="02020603050405020304" pitchFamily="18" charset="0"/>
                <a:cs typeface="Times New Roman" panose="02020603050405020304" pitchFamily="18" charset="0"/>
              </a:rPr>
              <a:t> Khan (21J41A7351)</a:t>
            </a:r>
          </a:p>
        </p:txBody>
      </p:sp>
      <p:sp>
        <p:nvSpPr>
          <p:cNvPr id="14" name="Text Box 13"/>
          <p:cNvSpPr txBox="1"/>
          <p:nvPr/>
        </p:nvSpPr>
        <p:spPr>
          <a:xfrm>
            <a:off x="5638826" y="3088844"/>
            <a:ext cx="3294831" cy="1354217"/>
          </a:xfrm>
          <a:prstGeom prst="rect">
            <a:avLst/>
          </a:prstGeom>
          <a:noFill/>
        </p:spPr>
        <p:txBody>
          <a:bodyPr wrap="square" rtlCol="0" anchor="t">
            <a:spAutoFit/>
          </a:bodyPr>
          <a:lstStyle/>
          <a:p>
            <a:r>
              <a:rPr lang="en-IN" sz="2200" b="1" u="sng" dirty="0">
                <a:solidFill>
                  <a:srgbClr val="A53010"/>
                </a:solidFill>
                <a:latin typeface="Times New Roman" panose="02020603050405020304" pitchFamily="18" charset="0"/>
                <a:cs typeface="Times New Roman" panose="02020603050405020304" pitchFamily="18" charset="0"/>
                <a:sym typeface="+mn-ea"/>
              </a:rPr>
              <a:t>Under the Guidance of</a:t>
            </a:r>
          </a:p>
          <a:p>
            <a:endParaRPr lang="en-IN" sz="2000" b="1" dirty="0">
              <a:solidFill>
                <a:srgbClr val="A53010"/>
              </a:solidFill>
              <a:highlight>
                <a:srgbClr val="808080"/>
              </a:highlight>
              <a:latin typeface="Times New Roman" panose="02020603050405020304" pitchFamily="18" charset="0"/>
              <a:cs typeface="Times New Roman" panose="02020603050405020304" pitchFamily="18" charset="0"/>
              <a:sym typeface="+mn-ea"/>
            </a:endParaRPr>
          </a:p>
          <a:p>
            <a:pPr algn="ctr"/>
            <a:endParaRPr lang="en-IN" sz="2000" b="1" dirty="0">
              <a:solidFill>
                <a:srgbClr val="A53010"/>
              </a:solidFill>
              <a:highlight>
                <a:srgbClr val="808080"/>
              </a:highlight>
              <a:latin typeface="Times New Roman" panose="02020603050405020304" pitchFamily="18" charset="0"/>
              <a:cs typeface="Times New Roman" panose="02020603050405020304" pitchFamily="18" charset="0"/>
            </a:endParaRPr>
          </a:p>
          <a:p>
            <a:pPr algn="ctr"/>
            <a:r>
              <a:rPr lang="en-IN" sz="2000" b="1" dirty="0">
                <a:latin typeface="Times New Roman" panose="02020603050405020304" pitchFamily="18" charset="0"/>
                <a:cs typeface="Times New Roman" panose="02020603050405020304" pitchFamily="18" charset="0"/>
                <a:sym typeface="+mn-ea"/>
              </a:rPr>
              <a:t>           </a:t>
            </a:r>
          </a:p>
        </p:txBody>
      </p:sp>
      <p:sp>
        <p:nvSpPr>
          <p:cNvPr id="10" name="TextBox 9">
            <a:extLst>
              <a:ext uri="{FF2B5EF4-FFF2-40B4-BE49-F238E27FC236}">
                <a16:creationId xmlns:a16="http://schemas.microsoft.com/office/drawing/2014/main" id="{0E084EE7-B74D-FD33-D45E-F3A6F0F42309}"/>
              </a:ext>
            </a:extLst>
          </p:cNvPr>
          <p:cNvSpPr txBox="1"/>
          <p:nvPr/>
        </p:nvSpPr>
        <p:spPr>
          <a:xfrm>
            <a:off x="3098403" y="1601721"/>
            <a:ext cx="3413760"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Major Project Review </a:t>
            </a:r>
            <a:endParaRPr lang="en-IN" sz="22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2EA86EA-5FA9-B5DA-B5C4-520FE15B3742}"/>
              </a:ext>
            </a:extLst>
          </p:cNvPr>
          <p:cNvSpPr txBox="1"/>
          <p:nvPr/>
        </p:nvSpPr>
        <p:spPr>
          <a:xfrm>
            <a:off x="5939405" y="3477170"/>
            <a:ext cx="2946424" cy="400110"/>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Ms.M.Santhosha</a:t>
            </a:r>
            <a:endParaRPr lang="en-IN"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2BC8B1E-E582-E8E0-7064-3D6ADD039FFE}"/>
              </a:ext>
            </a:extLst>
          </p:cNvPr>
          <p:cNvSpPr txBox="1"/>
          <p:nvPr/>
        </p:nvSpPr>
        <p:spPr>
          <a:xfrm>
            <a:off x="5939405" y="3732980"/>
            <a:ext cx="268548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Assistant professor</a:t>
            </a:r>
            <a:endParaRPr lang="en-IN"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30"/>
                                        </p:tgtEl>
                                        <p:attrNameLst>
                                          <p:attrName>style.visibility</p:attrName>
                                        </p:attrNameLst>
                                      </p:cBhvr>
                                      <p:to>
                                        <p:strVal val="visible"/>
                                      </p:to>
                                    </p:set>
                                    <p:animEffect transition="in" filter="fade">
                                      <p:cBhvr>
                                        <p:cTn id="7" dur="1000"/>
                                        <p:tgtEl>
                                          <p:spTgt spid="1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C80-B6D0-4383-5AEC-306D477055BB}"/>
              </a:ext>
            </a:extLst>
          </p:cNvPr>
          <p:cNvSpPr>
            <a:spLocks noGrp="1"/>
          </p:cNvSpPr>
          <p:nvPr>
            <p:ph type="title"/>
          </p:nvPr>
        </p:nvSpPr>
        <p:spPr>
          <a:xfrm>
            <a:off x="3020819" y="215900"/>
            <a:ext cx="2743201" cy="647100"/>
          </a:xfrm>
        </p:spPr>
        <p:txBody>
          <a:bodyPr/>
          <a:lstStyle/>
          <a:p>
            <a:r>
              <a:rPr lang="en-IN" sz="3500" b="1" dirty="0">
                <a:solidFill>
                  <a:srgbClr val="903730"/>
                </a:solidFill>
                <a:latin typeface="Times New Roman" panose="02020603050405020304" pitchFamily="18" charset="0"/>
                <a:cs typeface="Times New Roman" panose="02020603050405020304" pitchFamily="18" charset="0"/>
              </a:rPr>
              <a:t>ABSTRACT</a:t>
            </a:r>
          </a:p>
        </p:txBody>
      </p:sp>
      <p:sp>
        <p:nvSpPr>
          <p:cNvPr id="5" name="Rectangle 2"/>
          <p:cNvSpPr>
            <a:spLocks noGrp="1" noChangeArrowheads="1"/>
          </p:cNvSpPr>
          <p:nvPr>
            <p:ph type="body" idx="1"/>
          </p:nvPr>
        </p:nvSpPr>
        <p:spPr bwMode="auto">
          <a:xfrm>
            <a:off x="407794" y="996058"/>
            <a:ext cx="843140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1800" dirty="0">
                <a:latin typeface="Times New Roman" panose="02020603050405020304" pitchFamily="18" charset="0"/>
                <a:cs typeface="Times New Roman" panose="02020603050405020304" pitchFamily="18" charset="0"/>
              </a:rPr>
              <a:t>Our project focuses on predicting the price of Gold ETFs based on historical market data. Previous approaches, such as linear regression, have been widely used to forecast gold prices. However, linear regression is limited by its assumption of a linear relationship between the input features and the target variable. This approach often fails to capture complex, non-linear relationships in financial data, leading to lower prediction accuracy and poor generalization in volatile markets. In contrast, this project uses the </a:t>
            </a:r>
            <a:r>
              <a:rPr lang="en-US" sz="1800" b="1" dirty="0">
                <a:latin typeface="Times New Roman" panose="02020603050405020304" pitchFamily="18" charset="0"/>
                <a:cs typeface="Times New Roman" panose="02020603050405020304" pitchFamily="18" charset="0"/>
              </a:rPr>
              <a:t>Random Forest Regressor</a:t>
            </a:r>
            <a:r>
              <a:rPr lang="en-US" sz="1800" dirty="0">
                <a:latin typeface="Times New Roman" panose="02020603050405020304" pitchFamily="18" charset="0"/>
                <a:cs typeface="Times New Roman" panose="02020603050405020304" pitchFamily="18" charset="0"/>
              </a:rPr>
              <a:t>, an ensemble machine learning algorithm, to overcome these limitations. The model achieves better forecasting results, as shown by higher accuracy of </a:t>
            </a:r>
            <a:r>
              <a:rPr lang="en-US" sz="1800" b="1" dirty="0">
                <a:latin typeface="Times New Roman" panose="02020603050405020304" pitchFamily="18" charset="0"/>
                <a:cs typeface="Times New Roman" panose="02020603050405020304" pitchFamily="18" charset="0"/>
              </a:rPr>
              <a:t>90%</a:t>
            </a:r>
            <a:r>
              <a:rPr lang="en-US" sz="1800" dirty="0">
                <a:latin typeface="Times New Roman" panose="02020603050405020304" pitchFamily="18" charset="0"/>
                <a:cs typeface="Times New Roman" panose="02020603050405020304" pitchFamily="18" charset="0"/>
              </a:rPr>
              <a:t>, compared to the typical range of </a:t>
            </a:r>
            <a:r>
              <a:rPr lang="en-US" sz="1800" b="1" dirty="0">
                <a:latin typeface="Times New Roman" panose="02020603050405020304" pitchFamily="18" charset="0"/>
                <a:cs typeface="Times New Roman" panose="02020603050405020304" pitchFamily="18" charset="0"/>
              </a:rPr>
              <a:t>80%</a:t>
            </a:r>
            <a:r>
              <a:rPr lang="en-US" sz="1800" dirty="0">
                <a:latin typeface="Times New Roman" panose="02020603050405020304" pitchFamily="18" charset="0"/>
                <a:cs typeface="Times New Roman" panose="02020603050405020304" pitchFamily="18" charset="0"/>
              </a:rPr>
              <a:t> seen with linear regression, and reduced error rates. The system works by first analyzing historical gold price data, extracting relevant features, and training the Random Forest model to predict future gold prices. The predictive power of Random Forest allows investors to make more informed decisions when buying or selling gold. The increased model accuracy proves the effectiveness of this approach.</a:t>
            </a:r>
            <a:endParaRPr kumimoji="0" 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1098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3"/>
        <p:cNvGrpSpPr/>
        <p:nvPr/>
      </p:nvGrpSpPr>
      <p:grpSpPr>
        <a:xfrm>
          <a:off x="0" y="0"/>
          <a:ext cx="0" cy="0"/>
          <a:chOff x="0" y="0"/>
          <a:chExt cx="0" cy="0"/>
        </a:xfrm>
      </p:grpSpPr>
      <p:sp>
        <p:nvSpPr>
          <p:cNvPr id="1345" name="Google Shape;1345;p60"/>
          <p:cNvSpPr txBox="1">
            <a:spLocks noGrp="1"/>
          </p:cNvSpPr>
          <p:nvPr>
            <p:ph type="body" idx="1"/>
          </p:nvPr>
        </p:nvSpPr>
        <p:spPr>
          <a:xfrm>
            <a:off x="1845540" y="0"/>
            <a:ext cx="5295701" cy="789675"/>
          </a:xfrm>
          <a:prstGeom prst="rect">
            <a:avLst/>
          </a:prstGeom>
        </p:spPr>
        <p:txBody>
          <a:bodyPr spcFirstLastPara="1" wrap="square" lIns="91425" tIns="91425" rIns="91425" bIns="91425" anchor="t" anchorCtr="0">
            <a:noAutofit/>
          </a:bodyPr>
          <a:lstStyle/>
          <a:p>
            <a:pPr marL="0" lvl="0" indent="0" algn="just" rtl="0">
              <a:spcBef>
                <a:spcPts val="1600"/>
              </a:spcBef>
              <a:spcAft>
                <a:spcPts val="0"/>
              </a:spcAft>
              <a:buClr>
                <a:schemeClr val="dk2"/>
              </a:buClr>
              <a:buSzPts val="1100"/>
              <a:buFont typeface="Arial" panose="020B0604020202020204"/>
              <a:buNone/>
            </a:pPr>
            <a:r>
              <a:rPr lang="en-IN" sz="3500" b="1" dirty="0">
                <a:solidFill>
                  <a:srgbClr val="903730"/>
                </a:solidFill>
                <a:latin typeface="Times New Roman" panose="02020603050405020304" pitchFamily="18" charset="0"/>
                <a:cs typeface="Times New Roman" panose="02020603050405020304" pitchFamily="18" charset="0"/>
                <a:sym typeface="+mn-ea"/>
              </a:rPr>
              <a:t>PROBLEM STAT</a:t>
            </a:r>
            <a:r>
              <a:rPr lang="en-US" altLang="en-IN" sz="3500" b="1" dirty="0">
                <a:solidFill>
                  <a:srgbClr val="903730"/>
                </a:solidFill>
                <a:latin typeface="Times New Roman" panose="02020603050405020304" pitchFamily="18" charset="0"/>
                <a:cs typeface="Times New Roman" panose="02020603050405020304" pitchFamily="18" charset="0"/>
                <a:sym typeface="+mn-ea"/>
              </a:rPr>
              <a:t>E</a:t>
            </a:r>
            <a:r>
              <a:rPr lang="en-IN" sz="3500" b="1" dirty="0">
                <a:solidFill>
                  <a:srgbClr val="903730"/>
                </a:solidFill>
                <a:latin typeface="Times New Roman" panose="02020603050405020304" pitchFamily="18" charset="0"/>
                <a:cs typeface="Times New Roman" panose="02020603050405020304" pitchFamily="18" charset="0"/>
                <a:sym typeface="+mn-ea"/>
              </a:rPr>
              <a:t>MENT</a:t>
            </a:r>
          </a:p>
          <a:p>
            <a:pPr marL="0" lvl="0" indent="0" algn="just" rtl="0">
              <a:spcBef>
                <a:spcPts val="1600"/>
              </a:spcBef>
              <a:spcAft>
                <a:spcPts val="1600"/>
              </a:spcAft>
              <a:buNone/>
            </a:pPr>
            <a:endParaRPr sz="3500" b="1" dirty="0">
              <a:solidFill>
                <a:srgbClr val="903730"/>
              </a:solidFill>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423333" y="1353611"/>
            <a:ext cx="829733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dirty="0">
                <a:latin typeface="Times New Roman" panose="02020603050405020304" pitchFamily="18" charset="0"/>
                <a:cs typeface="Times New Roman" panose="02020603050405020304" pitchFamily="18" charset="0"/>
              </a:rPr>
              <a:t>Gold has long been regarded as a safe-haven asset, and its price fluctuations are of critical interest to investors, policymakers, and economists. However, predicting gold prices is a complex task due to the influence of various economic factors and market sentiments. This project aims to develop a machine learning model to predict the future price of gold based on historical data. By leveraging a </a:t>
            </a:r>
            <a:r>
              <a:rPr lang="en-US" b="1" dirty="0">
                <a:latin typeface="Times New Roman" panose="02020603050405020304" pitchFamily="18" charset="0"/>
                <a:cs typeface="Times New Roman" panose="02020603050405020304" pitchFamily="18" charset="0"/>
              </a:rPr>
              <a:t>Random Forest Regressor</a:t>
            </a:r>
            <a:r>
              <a:rPr lang="en-US" dirty="0">
                <a:latin typeface="Times New Roman" panose="02020603050405020304" pitchFamily="18" charset="0"/>
                <a:cs typeface="Times New Roman" panose="02020603050405020304" pitchFamily="18" charset="0"/>
              </a:rPr>
              <a:t>, this study seeks to provide a reliable forecasting model that can assist in making informed decisions in the financial markets and enhance understanding of gold price dynamics.</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16B6D-269E-40F3-98C2-94AE4354D0AD}"/>
              </a:ext>
            </a:extLst>
          </p:cNvPr>
          <p:cNvSpPr>
            <a:spLocks noGrp="1"/>
          </p:cNvSpPr>
          <p:nvPr>
            <p:ph type="title"/>
          </p:nvPr>
        </p:nvSpPr>
        <p:spPr>
          <a:xfrm>
            <a:off x="3011124" y="458401"/>
            <a:ext cx="7886700" cy="994172"/>
          </a:xfrm>
        </p:spPr>
        <p:txBody>
          <a:bodyPr>
            <a:normAutofit fontScale="90000"/>
          </a:bodyPr>
          <a:lstStyle/>
          <a:p>
            <a:pPr marL="0" lvl="0" indent="0" rtl="0">
              <a:spcBef>
                <a:spcPts val="1600"/>
              </a:spcBef>
              <a:spcAft>
                <a:spcPts val="0"/>
              </a:spcAft>
            </a:pPr>
            <a:r>
              <a:rPr lang="en-IN" sz="3900" b="1" dirty="0">
                <a:solidFill>
                  <a:srgbClr val="903730"/>
                </a:solidFill>
                <a:latin typeface="Times New Roman" panose="02020603050405020304" pitchFamily="18" charset="0"/>
                <a:cs typeface="Times New Roman" panose="02020603050405020304" pitchFamily="18" charset="0"/>
                <a:sym typeface="+mn-ea"/>
              </a:rPr>
              <a:t>OBJECTIVE</a:t>
            </a:r>
            <a:br>
              <a:rPr lang="en-IN" sz="3200" b="1" dirty="0">
                <a:solidFill>
                  <a:srgbClr val="903730"/>
                </a:solidFill>
                <a:latin typeface="Times New Roman" panose="02020603050405020304" pitchFamily="18" charset="0"/>
                <a:cs typeface="Times New Roman" panose="02020603050405020304" pitchFamily="18" charset="0"/>
                <a:sym typeface="+mn-ea"/>
              </a:rPr>
            </a:br>
            <a:br>
              <a:rPr lang="en-IN" sz="3200" b="1" dirty="0">
                <a:solidFill>
                  <a:srgbClr val="903730"/>
                </a:solidFill>
                <a:latin typeface="Times New Roman" panose="02020603050405020304" pitchFamily="18" charset="0"/>
                <a:cs typeface="Times New Roman" panose="02020603050405020304" pitchFamily="18" charset="0"/>
              </a:rPr>
            </a:br>
            <a:endParaRPr lang="en-IN" dirty="0"/>
          </a:p>
        </p:txBody>
      </p:sp>
      <p:sp>
        <p:nvSpPr>
          <p:cNvPr id="3" name="TextBox 2">
            <a:extLst>
              <a:ext uri="{FF2B5EF4-FFF2-40B4-BE49-F238E27FC236}">
                <a16:creationId xmlns:a16="http://schemas.microsoft.com/office/drawing/2014/main" id="{57C133E7-A1BA-D48B-4450-80B29739028F}"/>
              </a:ext>
            </a:extLst>
          </p:cNvPr>
          <p:cNvSpPr txBox="1"/>
          <p:nvPr/>
        </p:nvSpPr>
        <p:spPr>
          <a:xfrm>
            <a:off x="528507" y="1129407"/>
            <a:ext cx="7961152" cy="1754326"/>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Our project is to develop an advanced machine learning model, using the Random Forest Regressor</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 Prediction Accuracy Using Random Forest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Enhanced Decision-Making</a:t>
            </a:r>
          </a:p>
          <a:p>
            <a:pPr marL="285750" indent="-285750" algn="just">
              <a:buFont typeface="Arial" panose="020B0604020202020204" pitchFamily="34" charset="0"/>
              <a:buChar char="•"/>
            </a:pPr>
            <a:r>
              <a:rPr lang="en-US" dirty="0"/>
              <a:t>To identify key features influencing gold price fluctuations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7070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40E4-30BC-D20E-D067-672141ABF392}"/>
              </a:ext>
            </a:extLst>
          </p:cNvPr>
          <p:cNvSpPr>
            <a:spLocks noGrp="1"/>
          </p:cNvSpPr>
          <p:nvPr>
            <p:ph type="title"/>
          </p:nvPr>
        </p:nvSpPr>
        <p:spPr>
          <a:xfrm>
            <a:off x="522000" y="332009"/>
            <a:ext cx="8100000" cy="647100"/>
          </a:xfrm>
        </p:spPr>
        <p:txBody>
          <a:bodyPr/>
          <a:lstStyle/>
          <a:p>
            <a:pPr algn="ctr"/>
            <a:r>
              <a:rPr lang="en-IN" b="1" dirty="0">
                <a:solidFill>
                  <a:srgbClr val="903730"/>
                </a:solidFill>
                <a:latin typeface="Times New Roman" panose="02020603050405020304" pitchFamily="18" charset="0"/>
                <a:cs typeface="Times New Roman" panose="02020603050405020304" pitchFamily="18" charset="0"/>
              </a:rPr>
              <a:t>LITERATURE SURVEY</a:t>
            </a:r>
          </a:p>
        </p:txBody>
      </p:sp>
      <p:sp>
        <p:nvSpPr>
          <p:cNvPr id="5" name="Rectangle 2">
            <a:extLst>
              <a:ext uri="{FF2B5EF4-FFF2-40B4-BE49-F238E27FC236}">
                <a16:creationId xmlns:a16="http://schemas.microsoft.com/office/drawing/2014/main" id="{C6E51DC1-7321-3901-5A42-876451E00586}"/>
              </a:ext>
            </a:extLst>
          </p:cNvPr>
          <p:cNvSpPr>
            <a:spLocks noGrp="1" noChangeArrowheads="1"/>
          </p:cNvSpPr>
          <p:nvPr>
            <p:ph type="body" idx="1"/>
          </p:nvPr>
        </p:nvSpPr>
        <p:spPr bwMode="auto">
          <a:xfrm>
            <a:off x="683509" y="1144541"/>
            <a:ext cx="777698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Sami &amp; Junejo (2017)</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predict gold prices with inputs like oil prices, S&amp;P 500, and USD rates, effectively modeling non-linear economic relationships.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Navin &amp; Vadivu (2013)</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applied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Tree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feature selection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SVR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accurate predictions using market data like open, close, high, low, and volume.</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lang="en-US" sz="1800" b="1" dirty="0">
                <a:latin typeface="Times New Roman" panose="02020603050405020304" pitchFamily="18" charset="0"/>
                <a:cs typeface="Times New Roman" panose="02020603050405020304" pitchFamily="18" charset="0"/>
              </a:rPr>
              <a:t>Rebecca Davis (2014) </a:t>
            </a:r>
            <a:r>
              <a:rPr lang="en-US" sz="1800" dirty="0">
                <a:latin typeface="Times New Roman" panose="02020603050405020304" pitchFamily="18" charset="0"/>
                <a:cs typeface="Times New Roman" panose="02020603050405020304" pitchFamily="18" charset="0"/>
              </a:rPr>
              <a:t>applied the </a:t>
            </a:r>
            <a:r>
              <a:rPr lang="en-US" sz="1800" b="1" dirty="0">
                <a:latin typeface="Times New Roman" panose="02020603050405020304" pitchFamily="18" charset="0"/>
                <a:cs typeface="Times New Roman" panose="02020603050405020304" pitchFamily="18" charset="0"/>
              </a:rPr>
              <a:t>Autoregressive Moving Average (ARMA)</a:t>
            </a:r>
            <a:r>
              <a:rPr lang="en-US" sz="1800" dirty="0">
                <a:latin typeface="Times New Roman" panose="02020603050405020304" pitchFamily="18" charset="0"/>
                <a:cs typeface="Times New Roman" panose="02020603050405020304" pitchFamily="18" charset="0"/>
              </a:rPr>
              <a:t> model to forecast gold prices using monthly data spanning ten years. The model, commonly used for time series analysis, achieved an accuracy of </a:t>
            </a:r>
            <a:r>
              <a:rPr lang="en-US" sz="1800" b="1" dirty="0">
                <a:latin typeface="Times New Roman" panose="02020603050405020304" pitchFamily="18" charset="0"/>
                <a:cs typeface="Times New Roman" panose="02020603050405020304" pitchFamily="18" charset="0"/>
              </a:rPr>
              <a:t>66.67%</a:t>
            </a:r>
            <a:r>
              <a:rPr lang="en-US" sz="1800" dirty="0">
                <a:latin typeface="Times New Roman" panose="02020603050405020304" pitchFamily="18" charset="0"/>
                <a:cs typeface="Times New Roman" panose="02020603050405020304" pitchFamily="18" charset="0"/>
              </a:rPr>
              <a:t>, highlighting its moderate effectiveness in capturing gold price trends.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Patil et al. (2016)</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SVM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factors like silver, copper, oil, EUR/USD, and S&amp;P/TSX; Logistic Regression performed better with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61.92% accuracy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06293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274DA5-C334-7233-5D40-6B6C17D53F85}"/>
              </a:ext>
            </a:extLst>
          </p:cNvPr>
          <p:cNvSpPr txBox="1"/>
          <p:nvPr/>
        </p:nvSpPr>
        <p:spPr>
          <a:xfrm>
            <a:off x="2476078" y="126284"/>
            <a:ext cx="4488180" cy="630942"/>
          </a:xfrm>
          <a:prstGeom prst="rect">
            <a:avLst/>
          </a:prstGeom>
          <a:noFill/>
        </p:spPr>
        <p:txBody>
          <a:bodyPr wrap="square" rtlCol="0">
            <a:spAutoFit/>
          </a:bodyPr>
          <a:lstStyle/>
          <a:p>
            <a:r>
              <a:rPr lang="en-IN" sz="3500" b="1" dirty="0">
                <a:solidFill>
                  <a:srgbClr val="903730"/>
                </a:solidFill>
                <a:latin typeface="Times New Roman" panose="02020603050405020304" pitchFamily="18" charset="0"/>
                <a:cs typeface="Times New Roman" panose="02020603050405020304" pitchFamily="18" charset="0"/>
              </a:rPr>
              <a:t>EXISTING SYSTEM</a:t>
            </a:r>
          </a:p>
        </p:txBody>
      </p:sp>
      <p:sp>
        <p:nvSpPr>
          <p:cNvPr id="2" name="TextBox 1">
            <a:extLst>
              <a:ext uri="{FF2B5EF4-FFF2-40B4-BE49-F238E27FC236}">
                <a16:creationId xmlns:a16="http://schemas.microsoft.com/office/drawing/2014/main" id="{047C7F7D-BC5E-CC3D-56FC-6C14733264D1}"/>
              </a:ext>
            </a:extLst>
          </p:cNvPr>
          <p:cNvSpPr txBox="1"/>
          <p:nvPr/>
        </p:nvSpPr>
        <p:spPr>
          <a:xfrm>
            <a:off x="1051361" y="817242"/>
            <a:ext cx="7769412" cy="1717393"/>
          </a:xfrm>
          <a:prstGeom prst="rect">
            <a:avLst/>
          </a:prstGeom>
          <a:noFill/>
        </p:spPr>
        <p:txBody>
          <a:bodyPr wrap="square" rtlCol="0">
            <a:spAutoFit/>
          </a:bodyPr>
          <a:lstStyle/>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6" name="Rectangle 3"/>
          <p:cNvSpPr>
            <a:spLocks noChangeArrowheads="1"/>
          </p:cNvSpPr>
          <p:nvPr/>
        </p:nvSpPr>
        <p:spPr bwMode="auto">
          <a:xfrm>
            <a:off x="431801" y="1021002"/>
            <a:ext cx="857673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dirty="0">
                <a:latin typeface="Times New Roman" panose="02020603050405020304" pitchFamily="18" charset="0"/>
                <a:cs typeface="Times New Roman" panose="02020603050405020304" pitchFamily="18" charset="0"/>
              </a:rPr>
              <a:t>The existing system for </a:t>
            </a:r>
            <a:r>
              <a:rPr lang="en-US" b="1" dirty="0">
                <a:latin typeface="Times New Roman" panose="02020603050405020304" pitchFamily="18" charset="0"/>
                <a:cs typeface="Times New Roman" panose="02020603050405020304" pitchFamily="18" charset="0"/>
              </a:rPr>
              <a:t>Gold Price Prediction</a:t>
            </a:r>
            <a:r>
              <a:rPr lang="en-US" dirty="0">
                <a:latin typeface="Times New Roman" panose="02020603050405020304" pitchFamily="18" charset="0"/>
                <a:cs typeface="Times New Roman" panose="02020603050405020304" pitchFamily="18" charset="0"/>
              </a:rPr>
              <a:t> relies on </a:t>
            </a:r>
            <a:r>
              <a:rPr lang="en-US" b="1" dirty="0">
                <a:latin typeface="Times New Roman" panose="02020603050405020304" pitchFamily="18" charset="0"/>
                <a:cs typeface="Times New Roman" panose="02020603050405020304" pitchFamily="18" charset="0"/>
              </a:rPr>
              <a:t>Linear Regression</a:t>
            </a:r>
            <a:r>
              <a:rPr lang="en-US" dirty="0">
                <a:latin typeface="Times New Roman" panose="02020603050405020304" pitchFamily="18" charset="0"/>
                <a:cs typeface="Times New Roman" panose="02020603050405020304" pitchFamily="18" charset="0"/>
              </a:rPr>
              <a:t>, which has several limitations. First, it assumes a </a:t>
            </a:r>
            <a:r>
              <a:rPr lang="en-US" b="1" dirty="0">
                <a:latin typeface="Times New Roman" panose="02020603050405020304" pitchFamily="18" charset="0"/>
                <a:cs typeface="Times New Roman" panose="02020603050405020304" pitchFamily="18" charset="0"/>
              </a:rPr>
              <a:t>linear relationship</a:t>
            </a:r>
            <a:r>
              <a:rPr lang="en-US" dirty="0">
                <a:latin typeface="Times New Roman" panose="02020603050405020304" pitchFamily="18" charset="0"/>
                <a:cs typeface="Times New Roman" panose="02020603050405020304" pitchFamily="18" charset="0"/>
              </a:rPr>
              <a:t> between the input features and the target variable, making it ineffective in capturing </a:t>
            </a:r>
            <a:r>
              <a:rPr lang="en-US" b="1" dirty="0">
                <a:latin typeface="Times New Roman" panose="02020603050405020304" pitchFamily="18" charset="0"/>
                <a:cs typeface="Times New Roman" panose="02020603050405020304" pitchFamily="18" charset="0"/>
              </a:rPr>
              <a:t>non-linear relationships</a:t>
            </a:r>
            <a:r>
              <a:rPr lang="en-US" dirty="0">
                <a:latin typeface="Times New Roman" panose="02020603050405020304" pitchFamily="18" charset="0"/>
                <a:cs typeface="Times New Roman" panose="02020603050405020304" pitchFamily="18" charset="0"/>
              </a:rPr>
              <a:t> in complex data scenarios. Additionally, Linear Regression is prone to </a:t>
            </a:r>
            <a:r>
              <a:rPr lang="en-US" b="1" dirty="0">
                <a:latin typeface="Times New Roman" panose="02020603050405020304" pitchFamily="18" charset="0"/>
                <a:cs typeface="Times New Roman" panose="02020603050405020304" pitchFamily="18" charset="0"/>
              </a:rPr>
              <a:t>overfitting</a:t>
            </a:r>
            <a:r>
              <a:rPr lang="en-US" dirty="0">
                <a:latin typeface="Times New Roman" panose="02020603050405020304" pitchFamily="18" charset="0"/>
                <a:cs typeface="Times New Roman" panose="02020603050405020304" pitchFamily="18" charset="0"/>
              </a:rPr>
              <a:t> when there are too many predictors or noise in the data. Moreover, it struggles with </a:t>
            </a:r>
            <a:r>
              <a:rPr lang="en-US" b="1" dirty="0">
                <a:latin typeface="Times New Roman" panose="02020603050405020304" pitchFamily="18" charset="0"/>
                <a:cs typeface="Times New Roman" panose="02020603050405020304" pitchFamily="18" charset="0"/>
              </a:rPr>
              <a:t>real-time data processing</a:t>
            </a:r>
            <a:r>
              <a:rPr lang="en-US" dirty="0">
                <a:latin typeface="Times New Roman" panose="02020603050405020304" pitchFamily="18" charset="0"/>
                <a:cs typeface="Times New Roman" panose="02020603050405020304" pitchFamily="18" charset="0"/>
              </a:rPr>
              <a:t> and is heavily dependent on a </a:t>
            </a:r>
            <a:r>
              <a:rPr lang="en-US" b="1" dirty="0">
                <a:latin typeface="Times New Roman" panose="02020603050405020304" pitchFamily="18" charset="0"/>
                <a:cs typeface="Times New Roman" panose="02020603050405020304" pitchFamily="18" charset="0"/>
              </a:rPr>
              <a:t>limited set of variables</a:t>
            </a:r>
            <a:r>
              <a:rPr lang="en-US" dirty="0">
                <a:latin typeface="Times New Roman" panose="02020603050405020304" pitchFamily="18" charset="0"/>
                <a:cs typeface="Times New Roman" panose="02020603050405020304" pitchFamily="18" charset="0"/>
              </a:rPr>
              <a:t>, reducing its ability to handle dynamic market conditions and produce accurate predictions in real-world scenarios.</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1514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BCDBC9-1C81-F2B2-66B1-742B2C4490E2}"/>
              </a:ext>
            </a:extLst>
          </p:cNvPr>
          <p:cNvSpPr txBox="1"/>
          <p:nvPr/>
        </p:nvSpPr>
        <p:spPr>
          <a:xfrm>
            <a:off x="2281466" y="223937"/>
            <a:ext cx="4027395" cy="600164"/>
          </a:xfrm>
          <a:prstGeom prst="rect">
            <a:avLst/>
          </a:prstGeom>
          <a:noFill/>
        </p:spPr>
        <p:txBody>
          <a:bodyPr wrap="square" rtlCol="0">
            <a:spAutoFit/>
          </a:bodyPr>
          <a:lstStyle/>
          <a:p>
            <a:pPr algn="ctr"/>
            <a:r>
              <a:rPr lang="en-IN" sz="3300" b="1" dirty="0">
                <a:solidFill>
                  <a:srgbClr val="903730"/>
                </a:solidFill>
                <a:latin typeface="Times New Roman" panose="02020603050405020304" pitchFamily="18" charset="0"/>
                <a:cs typeface="Times New Roman" panose="02020603050405020304" pitchFamily="18" charset="0"/>
              </a:rPr>
              <a:t>DISADVANTAGES</a:t>
            </a:r>
          </a:p>
        </p:txBody>
      </p:sp>
      <p:sp>
        <p:nvSpPr>
          <p:cNvPr id="2" name="Rectangle 1"/>
          <p:cNvSpPr>
            <a:spLocks noChangeArrowheads="1"/>
          </p:cNvSpPr>
          <p:nvPr/>
        </p:nvSpPr>
        <p:spPr bwMode="auto">
          <a:xfrm>
            <a:off x="119386" y="2696676"/>
            <a:ext cx="87206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FB41D98F-501B-7F8E-0349-05FB6F91491E}"/>
              </a:ext>
            </a:extLst>
          </p:cNvPr>
          <p:cNvSpPr>
            <a:spLocks noChangeArrowheads="1"/>
          </p:cNvSpPr>
          <p:nvPr/>
        </p:nvSpPr>
        <p:spPr bwMode="auto">
          <a:xfrm>
            <a:off x="560704" y="1061088"/>
            <a:ext cx="816864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Assumes a Linear Relationship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Linear regression assumes a straight-line relationship, limiting its ability to model complex, non-linear market behavior.</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Struggles with Non-linear Relationships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fails to capture non-linear patterns in data, resulting in lower accuracy when predicting volatile gold prices.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Overfitting in Complex Datasets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Linear regression is prone to overfitting, especially with noisy or high-dimensional data, reducing its generalization capability.</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Real-Time Data Processing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model struggles to handle real-time data and adapt to rapid market changes without retraining.</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Dependency on Limited Variables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relies on a limited set of features, neglecting potentially important variables that could improve prediction accuracy.</a:t>
            </a:r>
          </a:p>
        </p:txBody>
      </p:sp>
    </p:spTree>
    <p:extLst>
      <p:ext uri="{BB962C8B-B14F-4D97-AF65-F5344CB8AC3E}">
        <p14:creationId xmlns:p14="http://schemas.microsoft.com/office/powerpoint/2010/main" val="1341728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4383F-39A4-94E6-41B2-693571BA154E}"/>
              </a:ext>
            </a:extLst>
          </p:cNvPr>
          <p:cNvSpPr>
            <a:spLocks noGrp="1"/>
          </p:cNvSpPr>
          <p:nvPr>
            <p:ph type="title"/>
          </p:nvPr>
        </p:nvSpPr>
        <p:spPr>
          <a:xfrm>
            <a:off x="628650" y="58724"/>
            <a:ext cx="7886700" cy="864066"/>
          </a:xfrm>
        </p:spPr>
        <p:txBody>
          <a:bodyPr/>
          <a:lstStyle/>
          <a:p>
            <a:pPr algn="ctr"/>
            <a:r>
              <a:rPr lang="en-IN" b="1" dirty="0">
                <a:solidFill>
                  <a:srgbClr val="903730"/>
                </a:solidFill>
                <a:latin typeface="+mn-lt"/>
              </a:rPr>
              <a:t>PROPOSED</a:t>
            </a:r>
            <a:r>
              <a:rPr lang="en-IN" b="1" dirty="0">
                <a:solidFill>
                  <a:srgbClr val="C00000"/>
                </a:solidFill>
                <a:latin typeface="+mn-lt"/>
              </a:rPr>
              <a:t> </a:t>
            </a:r>
            <a:r>
              <a:rPr lang="en-IN" b="1" dirty="0">
                <a:solidFill>
                  <a:srgbClr val="903730"/>
                </a:solidFill>
                <a:latin typeface="+mn-lt"/>
              </a:rPr>
              <a:t>SYSTEM</a:t>
            </a:r>
          </a:p>
        </p:txBody>
      </p:sp>
      <p:sp>
        <p:nvSpPr>
          <p:cNvPr id="3" name="Content Placeholder 2">
            <a:extLst>
              <a:ext uri="{FF2B5EF4-FFF2-40B4-BE49-F238E27FC236}">
                <a16:creationId xmlns:a16="http://schemas.microsoft.com/office/drawing/2014/main" id="{5EE26A1D-EF51-CE65-D074-AFE0E90E52B7}"/>
              </a:ext>
            </a:extLst>
          </p:cNvPr>
          <p:cNvSpPr>
            <a:spLocks noGrp="1"/>
          </p:cNvSpPr>
          <p:nvPr>
            <p:ph idx="1"/>
          </p:nvPr>
        </p:nvSpPr>
        <p:spPr>
          <a:xfrm>
            <a:off x="335560" y="1112066"/>
            <a:ext cx="8472880" cy="2919368"/>
          </a:xfrm>
        </p:spPr>
        <p:txBody>
          <a:bodyPr>
            <a:noAutofit/>
          </a:bodyPr>
          <a:lstStyle/>
          <a:p>
            <a:pPr marL="0" indent="0" algn="just">
              <a:lnSpc>
                <a:spcPct val="100000"/>
              </a:lnSpc>
              <a:buNone/>
            </a:pPr>
            <a:r>
              <a:rPr lang="en-US" sz="1800" dirty="0">
                <a:latin typeface="Times New Roman" panose="02020603050405020304" pitchFamily="18" charset="0"/>
                <a:cs typeface="Times New Roman" panose="02020603050405020304" pitchFamily="18" charset="0"/>
              </a:rPr>
              <a:t>The proposed system analyzes the correlations between a wide range of financial assets, including U.S. stocks (SPX), precious metals like gold and silver (GLD, SLV), crude oil (USO), and the EUR/USD exchange rate. By examining real-time data from these assets, the system enables investors to assess risk, track market trends, and optimize portfolio diversification. It helps identify how fluctuations in oil prices, gold, and silver prices impact stock markets, or how the strength of the dollar influences global assets. This solution addresses the common drawbacks of traditional models, such as delayed market reactions, limited understanding of cross-asset correlations, and overwhelming data streams. By providing real-time predictive analytics and a more comprehensive, multi-asset perspective, the system allows for faster and more accurate decision-making, especially during volatile market conditions. It improves the accuracy of predictions and streamlines complex financial analysis, offering a clear advantage over conventional static approaches.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2335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03CA3-B1B1-995F-F26B-627BE3E3ADFA}"/>
              </a:ext>
            </a:extLst>
          </p:cNvPr>
          <p:cNvSpPr>
            <a:spLocks noGrp="1"/>
          </p:cNvSpPr>
          <p:nvPr>
            <p:ph type="title"/>
          </p:nvPr>
        </p:nvSpPr>
        <p:spPr>
          <a:xfrm>
            <a:off x="628650" y="0"/>
            <a:ext cx="7886700" cy="1006679"/>
          </a:xfrm>
        </p:spPr>
        <p:txBody>
          <a:bodyPr/>
          <a:lstStyle/>
          <a:p>
            <a:pPr algn="ctr"/>
            <a:r>
              <a:rPr lang="en-IN" b="1" dirty="0">
                <a:solidFill>
                  <a:srgbClr val="903730"/>
                </a:solidFill>
                <a:latin typeface="Times New Roman" panose="02020603050405020304" pitchFamily="18" charset="0"/>
                <a:cs typeface="Times New Roman" panose="02020603050405020304" pitchFamily="18" charset="0"/>
              </a:rPr>
              <a:t>ADVANTAGES</a:t>
            </a:r>
          </a:p>
        </p:txBody>
      </p:sp>
      <p:sp>
        <p:nvSpPr>
          <p:cNvPr id="5" name="Rectangle 2">
            <a:extLst>
              <a:ext uri="{FF2B5EF4-FFF2-40B4-BE49-F238E27FC236}">
                <a16:creationId xmlns:a16="http://schemas.microsoft.com/office/drawing/2014/main" id="{EC94AD0B-ADE0-FCC9-0AC0-D5FBB42660DB}"/>
              </a:ext>
            </a:extLst>
          </p:cNvPr>
          <p:cNvSpPr>
            <a:spLocks noGrp="1" noChangeArrowheads="1"/>
          </p:cNvSpPr>
          <p:nvPr>
            <p:ph idx="1"/>
          </p:nvPr>
        </p:nvSpPr>
        <p:spPr bwMode="auto">
          <a:xfrm>
            <a:off x="628650" y="1006679"/>
            <a:ext cx="779389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Decision-Making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provides detailed insights and real-time data analysis, enabling investors to make informed decisions based on comprehensive market conditions.</a:t>
            </a:r>
          </a:p>
          <a:p>
            <a:pPr algn="just" defTabSz="91440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Capabilities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leveraging advanced analytics and machine learning, the system can forecast trends and market movements, helping investors anticipate market changes ahead of time.</a:t>
            </a:r>
          </a:p>
          <a:p>
            <a:pPr algn="just" defTabSz="91440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Integrated Market Data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consolidates data from multiple asset classes, such as commodities, currencies, and stocks, giving a holistic view of the market for more strategic investment planning.</a:t>
            </a:r>
          </a:p>
          <a:p>
            <a:pPr algn="just" defTabSz="91440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Increased Efficiency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data processing and analysis reduce the time required for research, allowing investors to respond to market changes more quickly and efficiently.</a:t>
            </a:r>
          </a:p>
        </p:txBody>
      </p:sp>
    </p:spTree>
    <p:extLst>
      <p:ext uri="{BB962C8B-B14F-4D97-AF65-F5344CB8AC3E}">
        <p14:creationId xmlns:p14="http://schemas.microsoft.com/office/powerpoint/2010/main" val="2028507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BC7A-BE99-8889-6883-9B2E3C5B0BBD}"/>
              </a:ext>
            </a:extLst>
          </p:cNvPr>
          <p:cNvSpPr>
            <a:spLocks noGrp="1"/>
          </p:cNvSpPr>
          <p:nvPr>
            <p:ph type="title"/>
          </p:nvPr>
        </p:nvSpPr>
        <p:spPr>
          <a:xfrm>
            <a:off x="522000" y="264898"/>
            <a:ext cx="8100000" cy="647100"/>
          </a:xfrm>
        </p:spPr>
        <p:txBody>
          <a:bodyPr/>
          <a:lstStyle/>
          <a:p>
            <a:pPr algn="ctr"/>
            <a:r>
              <a:rPr lang="en-IN" b="1" dirty="0">
                <a:solidFill>
                  <a:srgbClr val="903730"/>
                </a:solidFill>
                <a:latin typeface="Times New Roman" panose="02020603050405020304" pitchFamily="18" charset="0"/>
                <a:cs typeface="Times New Roman" panose="02020603050405020304" pitchFamily="18" charset="0"/>
              </a:rPr>
              <a:t>SYSTEM ARCHITECTURE</a:t>
            </a:r>
          </a:p>
        </p:txBody>
      </p:sp>
      <p:sp>
        <p:nvSpPr>
          <p:cNvPr id="3" name="Text Placeholder 2">
            <a:extLst>
              <a:ext uri="{FF2B5EF4-FFF2-40B4-BE49-F238E27FC236}">
                <a16:creationId xmlns:a16="http://schemas.microsoft.com/office/drawing/2014/main" id="{B2660D10-02F6-B7B3-1272-1F94AFE1ED2D}"/>
              </a:ext>
            </a:extLst>
          </p:cNvPr>
          <p:cNvSpPr>
            <a:spLocks noGrp="1"/>
          </p:cNvSpPr>
          <p:nvPr>
            <p:ph type="body" idx="1"/>
          </p:nvPr>
        </p:nvSpPr>
        <p:spPr>
          <a:xfrm>
            <a:off x="798629" y="1204800"/>
            <a:ext cx="7130642" cy="3413700"/>
          </a:xfrm>
        </p:spPr>
        <p:txBody>
          <a:bodyPr/>
          <a:lstStyle/>
          <a:p>
            <a:pPr marL="139700" indent="0">
              <a:buNone/>
            </a:pPr>
            <a:endParaRPr lang="en-IN" dirty="0"/>
          </a:p>
        </p:txBody>
      </p:sp>
      <p:pic>
        <p:nvPicPr>
          <p:cNvPr id="5" name="Picture 4">
            <a:extLst>
              <a:ext uri="{FF2B5EF4-FFF2-40B4-BE49-F238E27FC236}">
                <a16:creationId xmlns:a16="http://schemas.microsoft.com/office/drawing/2014/main" id="{E4E04B40-CA62-CCFC-1E18-A1AC11814E0C}"/>
              </a:ext>
            </a:extLst>
          </p:cNvPr>
          <p:cNvPicPr>
            <a:picLocks noChangeAspect="1"/>
          </p:cNvPicPr>
          <p:nvPr/>
        </p:nvPicPr>
        <p:blipFill>
          <a:blip r:embed="rId2"/>
          <a:stretch>
            <a:fillRect/>
          </a:stretch>
        </p:blipFill>
        <p:spPr>
          <a:xfrm>
            <a:off x="798629" y="1201130"/>
            <a:ext cx="7130642" cy="3417370"/>
          </a:xfrm>
          <a:prstGeom prst="rect">
            <a:avLst/>
          </a:prstGeom>
        </p:spPr>
      </p:pic>
    </p:spTree>
    <p:extLst>
      <p:ext uri="{BB962C8B-B14F-4D97-AF65-F5344CB8AC3E}">
        <p14:creationId xmlns:p14="http://schemas.microsoft.com/office/powerpoint/2010/main" val="1792045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D6986-C11D-535B-F4EC-C797ED51EE2D}"/>
              </a:ext>
            </a:extLst>
          </p:cNvPr>
          <p:cNvSpPr>
            <a:spLocks noGrp="1"/>
          </p:cNvSpPr>
          <p:nvPr>
            <p:ph type="title"/>
          </p:nvPr>
        </p:nvSpPr>
        <p:spPr/>
        <p:txBody>
          <a:bodyPr/>
          <a:lstStyle/>
          <a:p>
            <a:pPr algn="ctr"/>
            <a:r>
              <a:rPr lang="en-IN" dirty="0">
                <a:solidFill>
                  <a:srgbClr val="903730"/>
                </a:solidFill>
                <a:latin typeface="Times New Roman" panose="02020603050405020304" pitchFamily="18" charset="0"/>
                <a:cs typeface="Times New Roman" panose="02020603050405020304" pitchFamily="18" charset="0"/>
              </a:rPr>
              <a:t>HARDWARE &amp;SOFTWARE REQUIREMENTS</a:t>
            </a:r>
          </a:p>
        </p:txBody>
      </p:sp>
      <p:sp>
        <p:nvSpPr>
          <p:cNvPr id="3" name="Text Placeholder 2">
            <a:extLst>
              <a:ext uri="{FF2B5EF4-FFF2-40B4-BE49-F238E27FC236}">
                <a16:creationId xmlns:a16="http://schemas.microsoft.com/office/drawing/2014/main" id="{9E6781D7-F39A-7B05-606C-53ADF50BEDE2}"/>
              </a:ext>
            </a:extLst>
          </p:cNvPr>
          <p:cNvSpPr>
            <a:spLocks noGrp="1"/>
          </p:cNvSpPr>
          <p:nvPr>
            <p:ph type="body" idx="1"/>
          </p:nvPr>
        </p:nvSpPr>
        <p:spPr>
          <a:xfrm>
            <a:off x="590333" y="1733306"/>
            <a:ext cx="7647900" cy="3495300"/>
          </a:xfrm>
        </p:spPr>
        <p:txBody>
          <a:bodyPr/>
          <a:lstStyle/>
          <a:p>
            <a:pPr marL="139700" indent="0">
              <a:buNone/>
            </a:pPr>
            <a:endParaRPr lang="en-IN" dirty="0"/>
          </a:p>
          <a:p>
            <a:pPr marL="139700" indent="0">
              <a:buNone/>
            </a:pPr>
            <a:endParaRPr lang="en-IN" dirty="0"/>
          </a:p>
          <a:p>
            <a:pPr marL="139700" indent="0">
              <a:buNone/>
            </a:pPr>
            <a:r>
              <a:rPr lang="en-IN" dirty="0"/>
              <a:t>                       </a:t>
            </a:r>
          </a:p>
        </p:txBody>
      </p:sp>
      <p:sp>
        <p:nvSpPr>
          <p:cNvPr id="6" name="Rectangle 1">
            <a:extLst>
              <a:ext uri="{FF2B5EF4-FFF2-40B4-BE49-F238E27FC236}">
                <a16:creationId xmlns:a16="http://schemas.microsoft.com/office/drawing/2014/main" id="{1018F237-6D95-1EB9-B368-CBDD3C44FAF7}"/>
              </a:ext>
            </a:extLst>
          </p:cNvPr>
          <p:cNvSpPr>
            <a:spLocks noChangeArrowheads="1"/>
          </p:cNvSpPr>
          <p:nvPr/>
        </p:nvSpPr>
        <p:spPr bwMode="auto">
          <a:xfrm>
            <a:off x="590333" y="1266515"/>
            <a:ext cx="861549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HARDWARE REQUIREMENTS: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Processor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Intel Core i5 or higher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least 256 GB SSD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Minimum 8 GB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 10/11, macOS, or Linux (Ubuntu preferred for Python environments)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 REQUIREMENTS: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b="1" dirty="0"/>
              <a:t>Programming Language</a:t>
            </a:r>
            <a:r>
              <a:rPr lang="en-US" dirty="0"/>
              <a:t>: Python 3.x</a:t>
            </a: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t>IDE/</a:t>
            </a:r>
            <a:r>
              <a:rPr lang="en-US" b="1" dirty="0" err="1"/>
              <a:t>Editor</a:t>
            </a:r>
            <a:r>
              <a:rPr lang="en-US" dirty="0" err="1"/>
              <a:t>:Jupyter</a:t>
            </a:r>
            <a:r>
              <a:rPr lang="en-US" dirty="0"/>
              <a:t> Notebook</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Libraries/Packages: </a:t>
            </a:r>
            <a:r>
              <a:rPr lang="en-US" dirty="0" err="1">
                <a:latin typeface="Times New Roman" panose="02020603050405020304" pitchFamily="18" charset="0"/>
                <a:cs typeface="Times New Roman" panose="02020603050405020304" pitchFamily="18" charset="0"/>
              </a:rPr>
              <a:t>Panda,Numpy,Matplotlib,scikit-learn,xgboost</a:t>
            </a:r>
            <a:endParaRPr 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8790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31A7-74FB-DED7-2A40-105C41C6A5FF}"/>
              </a:ext>
            </a:extLst>
          </p:cNvPr>
          <p:cNvSpPr>
            <a:spLocks noGrp="1"/>
          </p:cNvSpPr>
          <p:nvPr>
            <p:ph type="title"/>
          </p:nvPr>
        </p:nvSpPr>
        <p:spPr/>
        <p:txBody>
          <a:bodyPr/>
          <a:lstStyle/>
          <a:p>
            <a:pPr algn="ctr"/>
            <a:r>
              <a:rPr lang="en-IN" b="1" dirty="0">
                <a:solidFill>
                  <a:srgbClr val="903730"/>
                </a:solidFill>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6529F6F0-07FA-12B1-DA98-2E406BCBD1FA}"/>
              </a:ext>
            </a:extLst>
          </p:cNvPr>
          <p:cNvSpPr>
            <a:spLocks noGrp="1"/>
          </p:cNvSpPr>
          <p:nvPr>
            <p:ph type="body" idx="1"/>
          </p:nvPr>
        </p:nvSpPr>
        <p:spPr>
          <a:xfrm>
            <a:off x="176169" y="1204800"/>
            <a:ext cx="8724549" cy="2935138"/>
          </a:xfrm>
        </p:spPr>
        <p:txBody>
          <a:bodyPr/>
          <a:lstStyle/>
          <a:p>
            <a:pPr marL="139700" indent="0">
              <a:buNone/>
            </a:pPr>
            <a:endParaRPr lang="en-IN" dirty="0"/>
          </a:p>
        </p:txBody>
      </p:sp>
      <p:pic>
        <p:nvPicPr>
          <p:cNvPr id="5" name="Picture 4">
            <a:extLst>
              <a:ext uri="{FF2B5EF4-FFF2-40B4-BE49-F238E27FC236}">
                <a16:creationId xmlns:a16="http://schemas.microsoft.com/office/drawing/2014/main" id="{622AC8B4-81C6-E96F-D098-57498FCE0437}"/>
              </a:ext>
            </a:extLst>
          </p:cNvPr>
          <p:cNvPicPr>
            <a:picLocks noChangeAspect="1"/>
          </p:cNvPicPr>
          <p:nvPr/>
        </p:nvPicPr>
        <p:blipFill>
          <a:blip r:embed="rId2"/>
          <a:stretch>
            <a:fillRect/>
          </a:stretch>
        </p:blipFill>
        <p:spPr>
          <a:xfrm>
            <a:off x="176170" y="1204800"/>
            <a:ext cx="4811698" cy="2935138"/>
          </a:xfrm>
          <a:prstGeom prst="rect">
            <a:avLst/>
          </a:prstGeom>
        </p:spPr>
      </p:pic>
      <p:pic>
        <p:nvPicPr>
          <p:cNvPr id="7" name="Picture 6">
            <a:extLst>
              <a:ext uri="{FF2B5EF4-FFF2-40B4-BE49-F238E27FC236}">
                <a16:creationId xmlns:a16="http://schemas.microsoft.com/office/drawing/2014/main" id="{6F77EE65-66E0-E974-6007-ECFA2A1B823E}"/>
              </a:ext>
            </a:extLst>
          </p:cNvPr>
          <p:cNvPicPr>
            <a:picLocks noChangeAspect="1"/>
          </p:cNvPicPr>
          <p:nvPr/>
        </p:nvPicPr>
        <p:blipFill>
          <a:blip r:embed="rId3"/>
          <a:stretch>
            <a:fillRect/>
          </a:stretch>
        </p:blipFill>
        <p:spPr>
          <a:xfrm>
            <a:off x="5293453" y="1204800"/>
            <a:ext cx="3607265" cy="2935138"/>
          </a:xfrm>
          <a:prstGeom prst="rect">
            <a:avLst/>
          </a:prstGeom>
        </p:spPr>
      </p:pic>
    </p:spTree>
    <p:extLst>
      <p:ext uri="{BB962C8B-B14F-4D97-AF65-F5344CB8AC3E}">
        <p14:creationId xmlns:p14="http://schemas.microsoft.com/office/powerpoint/2010/main" val="848251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7EF52-EC72-1965-099D-32D0E7EF5179}"/>
              </a:ext>
            </a:extLst>
          </p:cNvPr>
          <p:cNvSpPr>
            <a:spLocks noGrp="1"/>
          </p:cNvSpPr>
          <p:nvPr>
            <p:ph type="title"/>
          </p:nvPr>
        </p:nvSpPr>
        <p:spPr/>
        <p:txBody>
          <a:bodyPr/>
          <a:lstStyle/>
          <a:p>
            <a:pPr algn="ctr"/>
            <a:r>
              <a:rPr lang="en-IN" b="1" dirty="0">
                <a:solidFill>
                  <a:srgbClr val="903730"/>
                </a:solidFill>
                <a:latin typeface="Times New Roman" panose="02020603050405020304" pitchFamily="18" charset="0"/>
                <a:cs typeface="Times New Roman" panose="02020603050405020304" pitchFamily="18" charset="0"/>
              </a:rPr>
              <a:t>FUTURE ENHANCEMENT</a:t>
            </a:r>
          </a:p>
        </p:txBody>
      </p:sp>
      <p:sp>
        <p:nvSpPr>
          <p:cNvPr id="4" name="Rectangle 1">
            <a:extLst>
              <a:ext uri="{FF2B5EF4-FFF2-40B4-BE49-F238E27FC236}">
                <a16:creationId xmlns:a16="http://schemas.microsoft.com/office/drawing/2014/main" id="{FF854CE3-5702-2502-95E4-51398E278BE2}"/>
              </a:ext>
            </a:extLst>
          </p:cNvPr>
          <p:cNvSpPr>
            <a:spLocks noGrp="1" noChangeArrowheads="1"/>
          </p:cNvSpPr>
          <p:nvPr>
            <p:ph type="body" idx="1"/>
          </p:nvPr>
        </p:nvSpPr>
        <p:spPr bwMode="auto">
          <a:xfrm>
            <a:off x="522000" y="1626556"/>
            <a:ext cx="8100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Incorporate real-time data feeds to enable live gold price predictions.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deep learning models such as LSTM or GRU for improved time-series forecasting.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 feature sets to include global economic indicators like interest rates, inflation, and geopolitical events.</a:t>
            </a:r>
          </a:p>
        </p:txBody>
      </p:sp>
    </p:spTree>
    <p:extLst>
      <p:ext uri="{BB962C8B-B14F-4D97-AF65-F5344CB8AC3E}">
        <p14:creationId xmlns:p14="http://schemas.microsoft.com/office/powerpoint/2010/main" val="1294612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72608-53E9-D06B-6F92-8BD92548D1C8}"/>
              </a:ext>
            </a:extLst>
          </p:cNvPr>
          <p:cNvSpPr>
            <a:spLocks noGrp="1"/>
          </p:cNvSpPr>
          <p:nvPr>
            <p:ph type="title"/>
          </p:nvPr>
        </p:nvSpPr>
        <p:spPr/>
        <p:txBody>
          <a:bodyPr/>
          <a:lstStyle/>
          <a:p>
            <a:pPr algn="ctr"/>
            <a:r>
              <a:rPr lang="en-IN" b="1" dirty="0">
                <a:solidFill>
                  <a:srgbClr val="903730"/>
                </a:solidFill>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70238DB1-12AD-84A8-F302-FAB078B5797D}"/>
              </a:ext>
            </a:extLst>
          </p:cNvPr>
          <p:cNvSpPr>
            <a:spLocks noGrp="1"/>
          </p:cNvSpPr>
          <p:nvPr>
            <p:ph type="body" idx="1"/>
          </p:nvPr>
        </p:nvSpPr>
        <p:spPr/>
        <p:txBody>
          <a:bodyPr/>
          <a:lstStyle/>
          <a:p>
            <a:pPr marL="139700" indent="0" algn="just">
              <a:buNone/>
            </a:pPr>
            <a:r>
              <a:rPr lang="en-US" sz="1800" dirty="0">
                <a:latin typeface="Times New Roman" panose="02020603050405020304" pitchFamily="18" charset="0"/>
                <a:cs typeface="Times New Roman" panose="02020603050405020304" pitchFamily="18" charset="0"/>
              </a:rPr>
              <a:t>Gold price prediction is a complex task influenced by various economic, financial, and geopolitical factors. In this  machine learning techniques such as Linear Regression, Random Forest Regressor, and were employed to predict gold prices using historical data. Among these, the Random Forest Regressor demonstrated the highest accuracy, indicating its effectiveness in handling non-linear relationships and large feature sets. The results highlight the potential of machine learning models in making reliable financial forecasts. With further enhancements like real-time data integration, deep learning models, and user-friendly interfaces, the system can be developed into a powerful tool for investors and analysts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913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9D54A4-74F7-0220-1FB4-90F9CB509870}"/>
              </a:ext>
            </a:extLst>
          </p:cNvPr>
          <p:cNvSpPr>
            <a:spLocks noGrp="1"/>
          </p:cNvSpPr>
          <p:nvPr>
            <p:ph type="title"/>
          </p:nvPr>
        </p:nvSpPr>
        <p:spPr>
          <a:xfrm>
            <a:off x="1829231" y="1833971"/>
            <a:ext cx="8100000" cy="572700"/>
          </a:xfrm>
        </p:spPr>
        <p:txBody>
          <a:bodyPr/>
          <a:lstStyle/>
          <a:p>
            <a:r>
              <a:rPr lang="en-IN" sz="8000" b="1" i="1" dirty="0">
                <a:solidFill>
                  <a:srgbClr val="C0000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55809975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704</TotalTime>
  <Words>1366</Words>
  <Application>Microsoft Office PowerPoint</Application>
  <PresentationFormat>On-screen Show (16:9)</PresentationFormat>
  <Paragraphs>74</Paragraphs>
  <Slides>15</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Arial</vt:lpstr>
      <vt:lpstr>Wingdings</vt:lpstr>
      <vt:lpstr>Times New Roman</vt:lpstr>
      <vt:lpstr>Calibri</vt:lpstr>
      <vt:lpstr>Catamaran</vt:lpstr>
      <vt:lpstr>Calibri Light</vt:lpstr>
      <vt:lpstr>Office Theme</vt:lpstr>
      <vt:lpstr>1_Office Theme</vt:lpstr>
      <vt:lpstr>Malla Reddy Engineering College   (An UGC Autonomous Institution, Approved by AICTE, New Delhi &amp; Affiliated to JNTUH, Hyderabad).  Accredited by  NAAC with ‘A++’ Grade (Cycle-III), Maisammaguda(H), Medchal - Malkajgiri District, Secunderabad, Telangana State – 500100, www.mrec.ac.in</vt:lpstr>
      <vt:lpstr>ABSTRACT</vt:lpstr>
      <vt:lpstr>PowerPoint Presentation</vt:lpstr>
      <vt:lpstr>OBJECTIVE  </vt:lpstr>
      <vt:lpstr>LITERATURE SURVEY</vt:lpstr>
      <vt:lpstr>PowerPoint Presentation</vt:lpstr>
      <vt:lpstr>PowerPoint Presentation</vt:lpstr>
      <vt:lpstr>PROPOSED SYSTEM</vt:lpstr>
      <vt:lpstr>ADVANTAGES</vt:lpstr>
      <vt:lpstr>SYSTEM ARCHITECTURE</vt:lpstr>
      <vt:lpstr>HARDWARE &amp;SOFTWARE REQUIREMENTS</vt:lpstr>
      <vt:lpstr>RESULTS</vt:lpstr>
      <vt:lpstr>FUTURE ENHANCEMENT</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Malla Reddy Engineering College   (An UGC Autonomous Institution, Approved by AICTE, New Delhi &amp; Affiliated to JNTUH, Hyderabad).  Accredited by  NAAC with ‘A++’ Grade (Cycle-III), Maisammaguda(H), Medchal - Malkajgiri District, Secunderabad, Telangana State – 500100, www.mrec.ac.in</dc:title>
  <dc:creator>Jashwanth K</dc:creator>
  <cp:lastModifiedBy>raghu9490977434@gmail.com</cp:lastModifiedBy>
  <cp:revision>18</cp:revision>
  <dcterms:created xsi:type="dcterms:W3CDTF">2024-11-07T10:20:07Z</dcterms:created>
  <dcterms:modified xsi:type="dcterms:W3CDTF">2025-04-20T09:41:55Z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8C9417EC3361416D856E301D71F23CFA_13</vt:lpwstr>
  </property>
  <property fmtid="{D5CDD505-2E9C-101B-9397-08002B2CF9AE}" pid="3" name="KSOProductBuildVer">
    <vt:lpwstr>1033-12.2.0.18607</vt:lpwstr>
  </property>
</Properties>
</file>